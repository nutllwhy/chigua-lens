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c0162630884e3f" /><Relationship Type="http://schemas.openxmlformats.org/officeDocument/2006/relationships/extended-properties" Target="/docProps/app.xml" Id="Rdea7238151bc4d39" /><Relationship Type="http://schemas.openxmlformats.org/officeDocument/2006/relationships/officeDocument" Target="/ppt/presentation.xml" Id="Rcb89df44567f43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338e28ae284be9"/>
  </p:sldMasterIdLst>
  <p:notesMasterIdLst>
    <p:notesMasterId xmlns:r="http://schemas.openxmlformats.org/officeDocument/2006/relationships" r:id="Ra0c0062b72344a6b"/>
  </p:notesMasterIdLst>
  <p:sldIdLst>
    <p:sldId xmlns:r="http://schemas.openxmlformats.org/officeDocument/2006/relationships" id="256" r:id="Rfc78109cde2443df"/>
    <p:sldId xmlns:r="http://schemas.openxmlformats.org/officeDocument/2006/relationships" id="257" r:id="R2677ad435c52433c"/>
    <p:sldId xmlns:r="http://schemas.openxmlformats.org/officeDocument/2006/relationships" id="258" r:id="R289a3f0ba6594e42"/>
    <p:sldId xmlns:r="http://schemas.openxmlformats.org/officeDocument/2006/relationships" id="259" r:id="Rdb92a65eaabb4583"/>
    <p:sldId xmlns:r="http://schemas.openxmlformats.org/officeDocument/2006/relationships" id="260" r:id="Rfba6fb5381494435"/>
    <p:sldId xmlns:r="http://schemas.openxmlformats.org/officeDocument/2006/relationships" id="261" r:id="R55d36652b2584c06"/>
    <p:sldId xmlns:r="http://schemas.openxmlformats.org/officeDocument/2006/relationships" id="262" r:id="R7412b8b4207749b9"/>
    <p:sldId xmlns:r="http://schemas.openxmlformats.org/officeDocument/2006/relationships" id="263" r:id="R8a4d967305814378"/>
    <p:sldId xmlns:r="http://schemas.openxmlformats.org/officeDocument/2006/relationships" id="264" r:id="R586fb82e779849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35269681084b7e" /><Relationship Type="http://schemas.openxmlformats.org/officeDocument/2006/relationships/slideMaster" Target="/ppt/slideMasters/slideMaster1.xml" Id="R9e338e28ae284be9" /><Relationship Type="http://schemas.openxmlformats.org/officeDocument/2006/relationships/notesMaster" Target="/ppt/notesMasters/notesMaster1.xml" Id="Ra0c0062b72344a6b" /><Relationship Type="http://schemas.openxmlformats.org/officeDocument/2006/relationships/presProps" Target="/ppt/presProps.xml" Id="R3f44727cad36431a" /><Relationship Type="http://schemas.openxmlformats.org/officeDocument/2006/relationships/tableStyles" Target="/ppt/tableStyles.xml" Id="Rf83160c30c6c45b6" /><Relationship Type="http://schemas.openxmlformats.org/officeDocument/2006/relationships/slide" Target="/ppt/slides/slide1.xml" Id="Rfc78109cde2443df" /><Relationship Type="http://schemas.openxmlformats.org/officeDocument/2006/relationships/slide" Target="/ppt/slides/slide2.xml" Id="R2677ad435c52433c" /><Relationship Type="http://schemas.openxmlformats.org/officeDocument/2006/relationships/slide" Target="/ppt/slides/slide3.xml" Id="R289a3f0ba6594e42" /><Relationship Type="http://schemas.openxmlformats.org/officeDocument/2006/relationships/slide" Target="/ppt/slides/slide4.xml" Id="Rdb92a65eaabb4583" /><Relationship Type="http://schemas.openxmlformats.org/officeDocument/2006/relationships/slide" Target="/ppt/slides/slide5.xml" Id="Rfba6fb5381494435" /><Relationship Type="http://schemas.openxmlformats.org/officeDocument/2006/relationships/slide" Target="/ppt/slides/slide6.xml" Id="R55d36652b2584c06" /><Relationship Type="http://schemas.openxmlformats.org/officeDocument/2006/relationships/slide" Target="/ppt/slides/slide7.xml" Id="R7412b8b4207749b9" /><Relationship Type="http://schemas.openxmlformats.org/officeDocument/2006/relationships/slide" Target="/ppt/slides/slide8.xml" Id="R8a4d967305814378" /><Relationship Type="http://schemas.openxmlformats.org/officeDocument/2006/relationships/slide" Target="/ppt/slides/slide9.xml" Id="R586fb82e779849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b6db0b69be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ace77552a94dfd" /><Relationship Type="http://schemas.openxmlformats.org/officeDocument/2006/relationships/notesMaster" Target="/ppt/notesMasters/notesMaster1.xml" Id="Reb9b6c8723dd4f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ed9e0a7ac04675" /><Relationship Type="http://schemas.openxmlformats.org/officeDocument/2006/relationships/notesMaster" Target="/ppt/notesMasters/notesMaster1.xml" Id="R6508383aa3164e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89d5182c654143" /><Relationship Type="http://schemas.openxmlformats.org/officeDocument/2006/relationships/notesMaster" Target="/ppt/notesMasters/notesMaster1.xml" Id="R2840833fc4a04b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49062c324f4a35" /><Relationship Type="http://schemas.openxmlformats.org/officeDocument/2006/relationships/notesMaster" Target="/ppt/notesMasters/notesMaster1.xml" Id="Rdb07bc6fed504b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73780adb8c4493" /><Relationship Type="http://schemas.openxmlformats.org/officeDocument/2006/relationships/notesMaster" Target="/ppt/notesMasters/notesMaster1.xml" Id="Rdaedf819f6404c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d7644d7b764a34" /><Relationship Type="http://schemas.openxmlformats.org/officeDocument/2006/relationships/notesMaster" Target="/ppt/notesMasters/notesMaster1.xml" Id="R57d8e2e0e2214f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5c28875944ea4" /><Relationship Type="http://schemas.openxmlformats.org/officeDocument/2006/relationships/notesMaster" Target="/ppt/notesMasters/notesMaster1.xml" Id="Rf20f34b61dc048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6715d0e9b34630" /><Relationship Type="http://schemas.openxmlformats.org/officeDocument/2006/relationships/notesMaster" Target="/ppt/notesMasters/notesMaster1.xml" Id="R72b2a9da56ad4a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2a5ed194714125" /><Relationship Type="http://schemas.openxmlformats.org/officeDocument/2006/relationships/notesMaster" Target="/ppt/notesMasters/notesMaster1.xml" Id="R4be38699449640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Cover illustration generated with OpenAI image generation for decorative use only.</a:t>
            </a:r>
          </a:p>
          <a:p xmlns:a="http://schemas.openxmlformats.org/drawingml/2006/main">
            <a:r>
              <a:t>- All event content is fictional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南风音乐节: 阵容调整公告 — demo://organizer-announcement</a:t>
            </a:r>
          </a:p>
          <a:p xmlns:a="http://schemas.openxmlformats.org/drawingml/2006/main">
            <a:r>
              <a:t>- 林霁工作室: 关于演出安排的说明 — demo://studio-response</a:t>
            </a:r>
          </a:p>
          <a:p xmlns:a="http://schemas.openxmlformats.org/drawingml/2006/main">
            <a:r>
              <a:t>- 南风音乐节: 退款方案补充公告 — demo://refund-update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南风音乐节: 阵容调整公告 — demo://organizer-announcement</a:t>
            </a:r>
          </a:p>
          <a:p xmlns:a="http://schemas.openxmlformats.org/drawingml/2006/main">
            <a:r>
              <a:t>- 林霁工作室: 关于演出安排的说明 — demo://studio-response</a:t>
            </a:r>
          </a:p>
          <a:p xmlns:a="http://schemas.openxmlformats.org/drawingml/2006/main">
            <a:r>
              <a:t>- 公开微博样本: 匿名账号转述与旧版海报 — demo://unverified-posts</a:t>
            </a:r>
          </a:p>
          <a:p xmlns:a="http://schemas.openxmlformats.org/drawingml/2006/main">
            <a:r>
              <a:t>- 南风音乐节: 退款方案补充公告 — demo://refund-update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南风音乐节: 阵容调整公告 — demo://organizer-announcement</a:t>
            </a:r>
          </a:p>
          <a:p xmlns:a="http://schemas.openxmlformats.org/drawingml/2006/main">
            <a:r>
              <a:t>- 林霁工作室: 关于演出安排的说明 — demo://studio-response</a:t>
            </a:r>
          </a:p>
          <a:p xmlns:a="http://schemas.openxmlformats.org/drawingml/2006/main">
            <a:r>
              <a:t>- 公开微博样本: 匿名账号转述与旧版海报 — demo://unverified-posts</a:t>
            </a:r>
          </a:p>
          <a:p xmlns:a="http://schemas.openxmlformats.org/drawingml/2006/main">
            <a:r>
              <a:t>- 南风音乐节: 退款方案补充公告 — demo://refund-update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南风音乐节: 阵容调整公告 — demo://organizer-announcement</a:t>
            </a:r>
          </a:p>
          <a:p xmlns:a="http://schemas.openxmlformats.org/drawingml/2006/main">
            <a:r>
              <a:t>- 林霁工作室: 关于演出安排的说明 — demo://studio-response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南风音乐节: 阵容调整公告 — demo://organizer-announcement</a:t>
            </a:r>
          </a:p>
          <a:p xmlns:a="http://schemas.openxmlformats.org/drawingml/2006/main">
            <a:r>
              <a:t>- 林霁工作室: 关于演出安排的说明 — demo://studio-response</a:t>
            </a:r>
          </a:p>
          <a:p xmlns:a="http://schemas.openxmlformats.org/drawingml/2006/main">
            <a:r>
              <a:t>- 公开微博样本: 匿名账号转述与旧版海报 — demo://unverified-posts</a:t>
            </a:r>
          </a:p>
          <a:p xmlns:a="http://schemas.openxmlformats.org/drawingml/2006/main">
            <a:r>
              <a:t>- 南风音乐节: 退款方案补充公告 — demo://refund-update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南风音乐节: 阵容调整公告 — demo://organizer-announcement</a:t>
            </a:r>
          </a:p>
          <a:p xmlns:a="http://schemas.openxmlformats.org/drawingml/2006/main">
            <a:r>
              <a:t>- 林霁工作室: 关于演出安排的说明 — demo://studio-response</a:t>
            </a:r>
          </a:p>
          <a:p xmlns:a="http://schemas.openxmlformats.org/drawingml/2006/main">
            <a:r>
              <a:t>- 公开微博样本: 匿名账号转述与旧版海报 — demo://unverified-posts</a:t>
            </a:r>
          </a:p>
          <a:p xmlns:a="http://schemas.openxmlformats.org/drawingml/2006/main">
            <a:r>
              <a:t>- 南风音乐节: 退款方案补充公告 — demo://refund-update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南风音乐节: 阵容调整公告 — demo://organizer-announcement</a:t>
            </a:r>
          </a:p>
          <a:p xmlns:a="http://schemas.openxmlformats.org/drawingml/2006/main">
            <a:r>
              <a:t>- 林霁工作室: 关于演出安排的说明 — demo://studio-response</a:t>
            </a:r>
          </a:p>
          <a:p xmlns:a="http://schemas.openxmlformats.org/drawingml/2006/main">
            <a:r>
              <a:t>- 公开微博样本: 匿名账号转述与旧版海报 — demo://unverified-posts</a:t>
            </a:r>
          </a:p>
          <a:p xmlns:a="http://schemas.openxmlformats.org/drawingml/2006/main">
            <a:r>
              <a:t>- 南风音乐节: 退款方案补充公告 — demo://refund-update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南风音乐节: 阵容调整公告 — demo://organizer-announcement</a:t>
            </a:r>
          </a:p>
          <a:p xmlns:a="http://schemas.openxmlformats.org/drawingml/2006/main">
            <a:r>
              <a:t>- 林霁工作室: 关于演出安排的说明 — demo://studio-response</a:t>
            </a:r>
          </a:p>
          <a:p xmlns:a="http://schemas.openxmlformats.org/drawingml/2006/main">
            <a:r>
              <a:t>- 公开微博样本: 匿名账号转述与旧版海报 — demo://unverified-posts</a:t>
            </a:r>
          </a:p>
          <a:p xmlns:a="http://schemas.openxmlformats.org/drawingml/2006/main">
            <a:r>
              <a:t>- 南风音乐节: 退款方案补充公告 — demo://refund-update</a:t>
            </a:r>
          </a:p>
          <a:p xmlns:a="http://schemas.openxmlformats.org/drawingml/2006/main">
            <a:r>
              <a:t>- Deck assembled with AI assistance; final publication requires human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129d08db848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8f3c0dfab34fea" /><Relationship Type="http://schemas.openxmlformats.org/officeDocument/2006/relationships/slideLayout" Target="/ppt/slideLayouts/slideLayout1.xml" Id="R5fe28e848d814c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e28e848d814c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d54cf1cce4902" /><Relationship Type="http://schemas.openxmlformats.org/officeDocument/2006/relationships/image" Target="/ppt/media/image.png" Id="R21c3b1fd81654206" /><Relationship Type="http://schemas.openxmlformats.org/officeDocument/2006/relationships/notesSlide" Target="/ppt/notesSlides/notesSlide1.xml" Id="R1b9a02cd4bf548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0210c86574e81" /><Relationship Type="http://schemas.openxmlformats.org/officeDocument/2006/relationships/notesSlide" Target="/ppt/notesSlides/notesSlide2.xml" Id="R1571180607f549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2ef7f9e0548cf" /><Relationship Type="http://schemas.openxmlformats.org/officeDocument/2006/relationships/notesSlide" Target="/ppt/notesSlides/notesSlide3.xml" Id="R14df52c9c69a4e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0c2dcf70248d5" /><Relationship Type="http://schemas.openxmlformats.org/officeDocument/2006/relationships/notesSlide" Target="/ppt/notesSlides/notesSlide4.xml" Id="R0197d7c86fd1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54bf47dc14d96" /><Relationship Type="http://schemas.openxmlformats.org/officeDocument/2006/relationships/notesSlide" Target="/ppt/notesSlides/notesSlide5.xml" Id="Rfeb864f082e54d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c5e6db19e4147" /><Relationship Type="http://schemas.openxmlformats.org/officeDocument/2006/relationships/notesSlide" Target="/ppt/notesSlides/notesSlide6.xml" Id="Ra0cf87e77dc249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3856d758f4b86" /><Relationship Type="http://schemas.openxmlformats.org/officeDocument/2006/relationships/notesSlide" Target="/ppt/notesSlides/notesSlide7.xml" Id="R605906f2daac44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cf191f4bd41ac" /><Relationship Type="http://schemas.openxmlformats.org/officeDocument/2006/relationships/notesSlide" Target="/ppt/notesSlides/notesSlide8.xml" Id="R070895e995814f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2594c711f4630" /><Relationship Type="http://schemas.openxmlformats.org/officeDocument/2006/relationships/notesSlide" Target="/ppt/notesSlides/notesSlide9.xml" Id="Rf61b05456cde4f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459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3b1fd816542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x-1">
            <a:extLst xmlns:a="http://schemas.openxmlformats.org/drawingml/2006/main">
              <a:ext uri="{FF2B5EF4-FFF2-40B4-BE49-F238E27FC236}">
                <a16:creationId xmlns:a16="http://schemas.microsoft.com/office/drawing/2014/main" id="{D97448AF-1E8A-4474-8AD8-CAD3ED84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19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DAD"/>
          </a:solidFill>
          <a:ln xmlns:a="http://schemas.openxmlformats.org/drawingml/2006/main" w="0">
            <a:solidFill>
              <a:srgbClr val="223DAD"/>
            </a:solidFill>
            <a:prstDash val="solid"/>
          </a:ln>
        </p:spPr>
      </p:sp>
      <p:sp>
        <p:nvSpPr>
          <p:cNvPr id="3" name="box-2">
            <a:extLst xmlns:a="http://schemas.openxmlformats.org/drawingml/2006/main">
              <a:ext uri="{FF2B5EF4-FFF2-40B4-BE49-F238E27FC236}">
                <a16:creationId xmlns:a16="http://schemas.microsoft.com/office/drawing/2014/main" id="{3EEE52A7-C0EF-464E-8DB0-2ED0A639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06F573-90A7-44EF-ACBA-BCEFCFD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EB5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CDEB58"/>
                </a:solidFill>
                <a:latin typeface="Source Han Sans CN"/>
                <a:ea typeface="Source Han Sans CN"/>
                <a:cs typeface="Source Han Sans CN"/>
              </a:rPr>
              <a:t>CHIGUA LENS / EVIDENCE BRIEF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10AB48B-95D5-4928-A46E-18E7454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4286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95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南风音乐节阵容调整</a:t>
            </a:r>
          </a:p>
        </p:txBody>
      </p:sp>
      <p:sp>
        <p:nvSpPr>
          <p:cNvPr id="6" name="line-5">
            <a:extLst xmlns:a="http://schemas.openxmlformats.org/drawingml/2006/main">
              <a:ext uri="{FF2B5EF4-FFF2-40B4-BE49-F238E27FC236}">
                <a16:creationId xmlns:a16="http://schemas.microsoft.com/office/drawing/2014/main" id="{082AB588-C1D6-4AEC-A5A7-CD22A3E1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790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4B16DEE-7CF0-4BD8-ADAB-F090F95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00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嘉宾确认退出，但活动方与工作室对取消原因说法不一致。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1DDE3FD-9C7B-4859-AB37-406B5836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DEB5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CDEB58"/>
                </a:solidFill>
                <a:latin typeface="Source Han Sans CN"/>
                <a:ea typeface="Source Han Sans CN"/>
                <a:cs typeface="Source Han Sans CN"/>
              </a:rPr>
              <a:t>#南风音乐节阵容调整#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2A7742F-CAC6-4822-BDDE-1929FFD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DFD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0">
                <a:solidFill>
                  <a:srgbClr val="E7DFD1"/>
                </a:solidFill>
                <a:latin typeface="Source Han Sans CN"/>
                <a:ea typeface="Source Han Sans CN"/>
                <a:cs typeface="Source Han Sans CN"/>
              </a:rPr>
              <a:t>2026-08-08 14:30 CST</a:t>
            </a:r>
          </a:p>
        </p:txBody>
      </p:sp>
      <p:sp>
        <p:nvSpPr>
          <p:cNvPr id="10" name="box-9">
            <a:extLst xmlns:a="http://schemas.openxmlformats.org/drawingml/2006/main">
              <a:ext uri="{FF2B5EF4-FFF2-40B4-BE49-F238E27FC236}">
                <a16:creationId xmlns:a16="http://schemas.microsoft.com/office/drawing/2014/main" id="{EACA9A20-8954-478F-A8A2-9C29635D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924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6BE0ED6-0269-439C-A733-FEDF4AB2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虚构数据 · 模板演示</a:t>
            </a:r>
          </a:p>
        </p:txBody>
      </p:sp>
    </p:spTree>
    <p:extLst>
      <p:ext uri="{BB962C8B-B14F-4D97-AF65-F5344CB8AC3E}">
        <p14:creationId xmlns:p14="http://schemas.microsoft.com/office/powerpoint/2010/main" val="1861004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1">
            <a:extLst xmlns:a="http://schemas.openxmlformats.org/drawingml/2006/main">
              <a:ext uri="{FF2B5EF4-FFF2-40B4-BE49-F238E27FC236}">
                <a16:creationId xmlns:a16="http://schemas.microsoft.com/office/drawing/2014/main" id="{394A2062-12EB-4647-8F97-C9D77FC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30-SECOND BRIEFING</a:t>
            </a:r>
          </a:p>
        </p:txBody>
      </p:sp>
      <p:sp>
        <p:nvSpPr>
          <p:cNvPr id="2" name="text-12">
            <a:extLst xmlns:a="http://schemas.openxmlformats.org/drawingml/2006/main">
              <a:ext uri="{FF2B5EF4-FFF2-40B4-BE49-F238E27FC236}">
                <a16:creationId xmlns:a16="http://schemas.microsoft.com/office/drawing/2014/main" id="{B958169C-8E31-40EA-A708-A66825B7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33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先说结论：公开事实与网络解读需要分开</a:t>
            </a:r>
          </a:p>
        </p:txBody>
      </p:sp>
      <p:sp>
        <p:nvSpPr>
          <p:cNvPr id="3" name="line-13">
            <a:extLst xmlns:a="http://schemas.openxmlformats.org/drawingml/2006/main">
              <a:ext uri="{FF2B5EF4-FFF2-40B4-BE49-F238E27FC236}">
                <a16:creationId xmlns:a16="http://schemas.microsoft.com/office/drawing/2014/main" id="{158CAFD1-2324-4304-A555-5D91244A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4" name="line-14">
            <a:extLst xmlns:a="http://schemas.openxmlformats.org/drawingml/2006/main">
              <a:ext uri="{FF2B5EF4-FFF2-40B4-BE49-F238E27FC236}">
                <a16:creationId xmlns:a16="http://schemas.microsoft.com/office/drawing/2014/main" id="{765021E2-C745-4784-936C-5BDDCE85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5" name="text-15">
            <a:extLst xmlns:a="http://schemas.openxmlformats.org/drawingml/2006/main">
              <a:ext uri="{FF2B5EF4-FFF2-40B4-BE49-F238E27FC236}">
                <a16:creationId xmlns:a16="http://schemas.microsoft.com/office/drawing/2014/main" id="{B7374929-7C4F-420A-B7F9-7E08DBFE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CHIGUA LENS · FICTIONAL DEMO / 虚构演示数据</a:t>
            </a:r>
          </a:p>
        </p:txBody>
      </p:sp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77182EC2-54A9-45F3-A97D-4C647E25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02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647634D9-7FA0-41BC-BED2-FDCBD359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嘉宾确认退出，但活动方与工作室对取消原因说法不一致。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04F31129-6F7B-4885-A6D1-D72DEA01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先确认公开材料能证明什么，再说明哪些仍然只是转述或推测。</a:t>
            </a:r>
          </a:p>
        </p:txBody>
      </p:sp>
      <p:sp>
        <p:nvSpPr>
          <p:cNvPr id="9" name="line-19">
            <a:extLst xmlns:a="http://schemas.openxmlformats.org/drawingml/2006/main">
              <a:ext uri="{FF2B5EF4-FFF2-40B4-BE49-F238E27FC236}">
                <a16:creationId xmlns:a16="http://schemas.microsoft.com/office/drawing/2014/main" id="{4BCC6873-10C8-45AB-8522-494A69A3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10" name="box-20">
            <a:extLst xmlns:a="http://schemas.openxmlformats.org/drawingml/2006/main">
              <a:ext uri="{FF2B5EF4-FFF2-40B4-BE49-F238E27FC236}">
                <a16:creationId xmlns:a16="http://schemas.microsoft.com/office/drawing/2014/main" id="{1F948FEF-3D89-45A9-8A91-9ED98BA8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11" name="text-21">
            <a:extLst xmlns:a="http://schemas.openxmlformats.org/drawingml/2006/main">
              <a:ext uri="{FF2B5EF4-FFF2-40B4-BE49-F238E27FC236}">
                <a16:creationId xmlns:a16="http://schemas.microsoft.com/office/drawing/2014/main" id="{4CED4B97-C294-4678-94BB-240C7ECA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4307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已确认</a:t>
            </a:r>
          </a:p>
        </p:txBody>
      </p:sp>
      <p:sp>
        <p:nvSpPr>
          <p:cNvPr id="12" name="text-22">
            <a:extLst xmlns:a="http://schemas.openxmlformats.org/drawingml/2006/main">
              <a:ext uri="{FF2B5EF4-FFF2-40B4-BE49-F238E27FC236}">
                <a16:creationId xmlns:a16="http://schemas.microsoft.com/office/drawing/2014/main" id="{0485E83B-9109-4949-8383-701425DB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145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已确认</a:t>
            </a:r>
          </a:p>
        </p:txBody>
      </p:sp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B6A83B8C-10DD-4A62-9CF1-E079DE45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林霁不再参加本周末演出</a:t>
            </a:r>
          </a:p>
        </p:txBody>
      </p:sp>
      <p:sp>
        <p:nvSpPr>
          <p:cNvPr id="14" name="line-24">
            <a:extLst xmlns:a="http://schemas.openxmlformats.org/drawingml/2006/main">
              <a:ext uri="{FF2B5EF4-FFF2-40B4-BE49-F238E27FC236}">
                <a16:creationId xmlns:a16="http://schemas.microsoft.com/office/drawing/2014/main" id="{8069835A-87D9-43FB-BB35-96802303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2A5"/>
          </a:solidFill>
          <a:ln xmlns:a="http://schemas.openxmlformats.org/drawingml/2006/main" w="0">
            <a:solidFill>
              <a:srgbClr val="B9B2A5"/>
            </a:solidFill>
            <a:prstDash val="solid"/>
          </a:ln>
        </p:spPr>
      </p:sp>
      <p:sp>
        <p:nvSpPr>
          <p:cNvPr id="15" name="box-25">
            <a:extLst xmlns:a="http://schemas.openxmlformats.org/drawingml/2006/main">
              <a:ext uri="{FF2B5EF4-FFF2-40B4-BE49-F238E27FC236}">
                <a16:creationId xmlns:a16="http://schemas.microsoft.com/office/drawing/2014/main" id="{2EC905EB-2063-4726-85B1-928611CB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16" name="text-26">
            <a:extLst xmlns:a="http://schemas.openxmlformats.org/drawingml/2006/main">
              <a:ext uri="{FF2B5EF4-FFF2-40B4-BE49-F238E27FC236}">
                <a16:creationId xmlns:a16="http://schemas.microsoft.com/office/drawing/2014/main" id="{AFDADB77-59E4-4884-9361-13172396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说法冲突</a:t>
            </a:r>
          </a:p>
        </p:txBody>
      </p:sp>
      <p:sp>
        <p:nvSpPr>
          <p:cNvPr id="17" name="text-27">
            <a:extLst xmlns:a="http://schemas.openxmlformats.org/drawingml/2006/main">
              <a:ext uri="{FF2B5EF4-FFF2-40B4-BE49-F238E27FC236}">
                <a16:creationId xmlns:a16="http://schemas.microsoft.com/office/drawing/2014/main" id="{EFAA363B-0E9F-4CDC-BB14-A90FDEA3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有分歧</a:t>
            </a:r>
          </a:p>
        </p:txBody>
      </p:sp>
      <p:sp>
        <p:nvSpPr>
          <p:cNvPr id="18" name="text-28">
            <a:extLst xmlns:a="http://schemas.openxmlformats.org/drawingml/2006/main">
              <a:ext uri="{FF2B5EF4-FFF2-40B4-BE49-F238E27FC236}">
                <a16:creationId xmlns:a16="http://schemas.microsoft.com/office/drawing/2014/main" id="{31F3D1E3-8497-4654-A671-640A60FB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双方对退出原因的公开表述不同</a:t>
            </a:r>
          </a:p>
        </p:txBody>
      </p:sp>
      <p:sp>
        <p:nvSpPr>
          <p:cNvPr id="19" name="line-29">
            <a:extLst xmlns:a="http://schemas.openxmlformats.org/drawingml/2006/main">
              <a:ext uri="{FF2B5EF4-FFF2-40B4-BE49-F238E27FC236}">
                <a16:creationId xmlns:a16="http://schemas.microsoft.com/office/drawing/2014/main" id="{A10A1711-C6D1-4583-B451-51B99F63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2A5"/>
          </a:solidFill>
          <a:ln xmlns:a="http://schemas.openxmlformats.org/drawingml/2006/main" w="0">
            <a:solidFill>
              <a:srgbClr val="B9B2A5"/>
            </a:solidFill>
            <a:prstDash val="solid"/>
          </a:ln>
        </p:spPr>
      </p:sp>
      <p:sp>
        <p:nvSpPr>
          <p:cNvPr id="20" name="box-30">
            <a:extLst xmlns:a="http://schemas.openxmlformats.org/drawingml/2006/main">
              <a:ext uri="{FF2B5EF4-FFF2-40B4-BE49-F238E27FC236}">
                <a16:creationId xmlns:a16="http://schemas.microsoft.com/office/drawing/2014/main" id="{E5FEB459-0FDD-48C2-B800-11950C01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21" name="text-31">
            <a:extLst xmlns:a="http://schemas.openxmlformats.org/drawingml/2006/main">
              <a:ext uri="{FF2B5EF4-FFF2-40B4-BE49-F238E27FC236}">
                <a16:creationId xmlns:a16="http://schemas.microsoft.com/office/drawing/2014/main" id="{7601158D-B4FE-4A5F-A28C-F3317D23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3387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已确认</a:t>
            </a:r>
          </a:p>
        </p:txBody>
      </p:sp>
      <p:sp>
        <p:nvSpPr>
          <p:cNvPr id="22" name="text-32">
            <a:extLst xmlns:a="http://schemas.openxmlformats.org/drawingml/2006/main">
              <a:ext uri="{FF2B5EF4-FFF2-40B4-BE49-F238E27FC236}">
                <a16:creationId xmlns:a16="http://schemas.microsoft.com/office/drawing/2014/main" id="{4D7A3B1E-AAFC-492B-B3FF-E8B18CF0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最新</a:t>
            </a:r>
          </a:p>
        </p:txBody>
      </p:sp>
      <p:sp>
        <p:nvSpPr>
          <p:cNvPr id="23" name="text-33">
            <a:extLst xmlns:a="http://schemas.openxmlformats.org/drawingml/2006/main">
              <a:ext uri="{FF2B5EF4-FFF2-40B4-BE49-F238E27FC236}">
                <a16:creationId xmlns:a16="http://schemas.microsoft.com/office/drawing/2014/main" id="{8586D3D5-7A38-4B9E-90EF-0A904ED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主办方已经开放部分票种退款</a:t>
            </a:r>
          </a:p>
        </p:txBody>
      </p:sp>
    </p:spTree>
    <p:extLst>
      <p:ext uri="{BB962C8B-B14F-4D97-AF65-F5344CB8AC3E}">
        <p14:creationId xmlns:p14="http://schemas.microsoft.com/office/powerpoint/2010/main" val="1916857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34">
            <a:extLst xmlns:a="http://schemas.openxmlformats.org/drawingml/2006/main">
              <a:ext uri="{FF2B5EF4-FFF2-40B4-BE49-F238E27FC236}">
                <a16:creationId xmlns:a16="http://schemas.microsoft.com/office/drawing/2014/main" id="{F7ED1511-D191-42B1-A637-FE8F522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WHO IS INVOLVED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1CB5A081-0741-448D-AEFC-6C20D78F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33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人物、现场与发布者，角色不同</a:t>
            </a:r>
          </a:p>
        </p:txBody>
      </p:sp>
      <p:sp>
        <p:nvSpPr>
          <p:cNvPr id="3" name="line-36">
            <a:extLst xmlns:a="http://schemas.openxmlformats.org/drawingml/2006/main">
              <a:ext uri="{FF2B5EF4-FFF2-40B4-BE49-F238E27FC236}">
                <a16:creationId xmlns:a16="http://schemas.microsoft.com/office/drawing/2014/main" id="{39CB20B8-F5A1-4673-997A-79864241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4" name="line-37">
            <a:extLst xmlns:a="http://schemas.openxmlformats.org/drawingml/2006/main">
              <a:ext uri="{FF2B5EF4-FFF2-40B4-BE49-F238E27FC236}">
                <a16:creationId xmlns:a16="http://schemas.microsoft.com/office/drawing/2014/main" id="{005167E2-9F4A-45AE-8DCF-40AC1178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C340536B-3E24-4274-B9F7-F22F78B9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CHIGUA LENS · FICTIONAL DEMO / 虚构演示数据</a:t>
            </a:r>
          </a:p>
        </p:txBody>
      </p:sp>
      <p:sp>
        <p:nvSpPr>
          <p:cNvPr id="6" name="text-39">
            <a:extLst xmlns:a="http://schemas.openxmlformats.org/drawingml/2006/main">
              <a:ext uri="{FF2B5EF4-FFF2-40B4-BE49-F238E27FC236}">
                <a16:creationId xmlns:a16="http://schemas.microsoft.com/office/drawing/2014/main" id="{62912BB5-DFD0-418E-9786-D42B50E0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sp>
        <p:nvSpPr>
          <p:cNvPr id="7" name="line-40">
            <a:extLst xmlns:a="http://schemas.openxmlformats.org/drawingml/2006/main">
              <a:ext uri="{FF2B5EF4-FFF2-40B4-BE49-F238E27FC236}">
                <a16:creationId xmlns:a16="http://schemas.microsoft.com/office/drawing/2014/main" id="{51810835-E11A-450F-B18D-83E5FE2F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8" name="line-41">
            <a:extLst xmlns:a="http://schemas.openxmlformats.org/drawingml/2006/main">
              <a:ext uri="{FF2B5EF4-FFF2-40B4-BE49-F238E27FC236}">
                <a16:creationId xmlns:a16="http://schemas.microsoft.com/office/drawing/2014/main" id="{E1F0F65F-3692-41A9-9236-ABBFA22E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467100"/>
            <a:ext cx="767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9" name="line-42">
            <a:extLst xmlns:a="http://schemas.openxmlformats.org/drawingml/2006/main">
              <a:ext uri="{FF2B5EF4-FFF2-40B4-BE49-F238E27FC236}">
                <a16:creationId xmlns:a16="http://schemas.microsoft.com/office/drawing/2014/main" id="{746965B6-6A02-4942-8E1D-E7D7DC52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671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10" name="line-43">
            <a:extLst xmlns:a="http://schemas.openxmlformats.org/drawingml/2006/main">
              <a:ext uri="{FF2B5EF4-FFF2-40B4-BE49-F238E27FC236}">
                <a16:creationId xmlns:a16="http://schemas.microsoft.com/office/drawing/2014/main" id="{5204F86B-7315-462F-81FA-BC4E827B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11" name="line-44">
            <a:extLst xmlns:a="http://schemas.openxmlformats.org/drawingml/2006/main">
              <a:ext uri="{FF2B5EF4-FFF2-40B4-BE49-F238E27FC236}">
                <a16:creationId xmlns:a16="http://schemas.microsoft.com/office/drawing/2014/main" id="{7FBB7085-EC77-4337-AFA3-38C090C4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4671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12" name="box-45">
            <a:extLst xmlns:a="http://schemas.openxmlformats.org/drawingml/2006/main">
              <a:ext uri="{FF2B5EF4-FFF2-40B4-BE49-F238E27FC236}">
                <a16:creationId xmlns:a16="http://schemas.microsoft.com/office/drawing/2014/main" id="{14E48EA7-6445-463E-B58D-F8F872D1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90700"/>
            <a:ext cx="4572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71712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13" name="text-46">
            <a:extLst xmlns:a="http://schemas.openxmlformats.org/drawingml/2006/main">
              <a:ext uri="{FF2B5EF4-FFF2-40B4-BE49-F238E27FC236}">
                <a16:creationId xmlns:a16="http://schemas.microsoft.com/office/drawing/2014/main" id="{F64EF305-DB8A-4C9A-8940-27CA6CC7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0502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热点事件</a:t>
            </a:r>
          </a:p>
        </p:txBody>
      </p:sp>
      <p:sp>
        <p:nvSpPr>
          <p:cNvPr id="14" name="text-47">
            <a:extLst xmlns:a="http://schemas.openxmlformats.org/drawingml/2006/main">
              <a:ext uri="{FF2B5EF4-FFF2-40B4-BE49-F238E27FC236}">
                <a16:creationId xmlns:a16="http://schemas.microsoft.com/office/drawing/2014/main" id="{A1E6A15E-1EB8-423F-90F5-ACB7CD40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62225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DEB5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CDEB58"/>
                </a:solidFill>
                <a:latin typeface="Source Han Sans CN"/>
                <a:ea typeface="Source Han Sans CN"/>
                <a:cs typeface="Source Han Sans CN"/>
              </a:rPr>
              <a:t>公开信息交叉核对</a:t>
            </a:r>
          </a:p>
        </p:txBody>
      </p:sp>
      <p:sp>
        <p:nvSpPr>
          <p:cNvPr id="15" name="box-48">
            <a:extLst xmlns:a="http://schemas.openxmlformats.org/drawingml/2006/main">
              <a:ext uri="{FF2B5EF4-FFF2-40B4-BE49-F238E27FC236}">
                <a16:creationId xmlns:a16="http://schemas.microsoft.com/office/drawing/2014/main" id="{4E11CE5D-B371-4663-AED3-B06FA6BB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71712"/>
            </a:solidFill>
            <a:prstDash val="solid"/>
          </a:ln>
        </p:spPr>
      </p:sp>
      <p:sp>
        <p:nvSpPr>
          <p:cNvPr id="16" name="box-49">
            <a:extLst xmlns:a="http://schemas.openxmlformats.org/drawingml/2006/main">
              <a:ext uri="{FF2B5EF4-FFF2-40B4-BE49-F238E27FC236}">
                <a16:creationId xmlns:a16="http://schemas.microsoft.com/office/drawing/2014/main" id="{7D8E6E9B-0464-47DA-AD36-BD650B0A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E6"/>
          </a:solidFill>
          <a:ln xmlns:a="http://schemas.openxmlformats.org/drawingml/2006/main" w="0">
            <a:solidFill>
              <a:srgbClr val="3459E6"/>
            </a:solidFill>
            <a:prstDash val="solid"/>
          </a:ln>
        </p:spPr>
      </p:sp>
      <p:sp>
        <p:nvSpPr>
          <p:cNvPr id="17" name="box-50">
            <a:extLst xmlns:a="http://schemas.openxmlformats.org/drawingml/2006/main">
              <a:ext uri="{FF2B5EF4-FFF2-40B4-BE49-F238E27FC236}">
                <a16:creationId xmlns:a16="http://schemas.microsoft.com/office/drawing/2014/main" id="{8246ABED-AA36-484A-AEF8-3F6DD9C5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1657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0">
            <a:solidFill>
              <a:srgbClr val="E7DFD1"/>
            </a:solidFill>
            <a:prstDash val="solid"/>
          </a:ln>
        </p:spPr>
      </p:sp>
      <p:sp>
        <p:nvSpPr>
          <p:cNvPr id="18" name="text-51">
            <a:extLst xmlns:a="http://schemas.openxmlformats.org/drawingml/2006/main">
              <a:ext uri="{FF2B5EF4-FFF2-40B4-BE49-F238E27FC236}">
                <a16:creationId xmlns:a16="http://schemas.microsoft.com/office/drawing/2014/main" id="{64E26A6B-6D99-47B1-A888-7B14D601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71850"/>
            <a:ext cx="1504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宣布阵容调整</a:t>
            </a:r>
          </a:p>
        </p:txBody>
      </p:sp>
      <p:sp>
        <p:nvSpPr>
          <p:cNvPr id="19" name="text-52">
            <a:extLst xmlns:a="http://schemas.openxmlformats.org/drawingml/2006/main">
              <a:ext uri="{FF2B5EF4-FFF2-40B4-BE49-F238E27FC236}">
                <a16:creationId xmlns:a16="http://schemas.microsoft.com/office/drawing/2014/main" id="{1149EB17-A772-48FD-8BA6-7B6F8755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南风音乐节</a:t>
            </a:r>
          </a:p>
        </p:txBody>
      </p:sp>
      <p:sp>
        <p:nvSpPr>
          <p:cNvPr id="20" name="text-53">
            <a:extLst xmlns:a="http://schemas.openxmlformats.org/drawingml/2006/main">
              <a:ext uri="{FF2B5EF4-FFF2-40B4-BE49-F238E27FC236}">
                <a16:creationId xmlns:a16="http://schemas.microsoft.com/office/drawing/2014/main" id="{E5FD2767-36B6-4921-AEEB-288BFFB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活动主办方</a:t>
            </a:r>
          </a:p>
        </p:txBody>
      </p:sp>
      <p:sp>
        <p:nvSpPr>
          <p:cNvPr id="21" name="box-54">
            <a:extLst xmlns:a="http://schemas.openxmlformats.org/drawingml/2006/main">
              <a:ext uri="{FF2B5EF4-FFF2-40B4-BE49-F238E27FC236}">
                <a16:creationId xmlns:a16="http://schemas.microsoft.com/office/drawing/2014/main" id="{2A64A6C7-38B9-4BD6-A512-D3CCD27C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43350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71712"/>
            </a:solidFill>
            <a:prstDash val="solid"/>
          </a:ln>
        </p:spPr>
      </p:sp>
      <p:sp>
        <p:nvSpPr>
          <p:cNvPr id="22" name="box-55">
            <a:extLst xmlns:a="http://schemas.openxmlformats.org/drawingml/2006/main">
              <a:ext uri="{FF2B5EF4-FFF2-40B4-BE49-F238E27FC236}">
                <a16:creationId xmlns:a16="http://schemas.microsoft.com/office/drawing/2014/main" id="{696EEEFF-AC79-477E-9EE2-40F623AD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433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23" name="box-56">
            <a:extLst xmlns:a="http://schemas.openxmlformats.org/drawingml/2006/main">
              <a:ext uri="{FF2B5EF4-FFF2-40B4-BE49-F238E27FC236}">
                <a16:creationId xmlns:a16="http://schemas.microsoft.com/office/drawing/2014/main" id="{571AC0F5-95B6-4C80-9294-A21ACC8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14700"/>
            <a:ext cx="1657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0">
            <a:solidFill>
              <a:srgbClr val="E7DFD1"/>
            </a:solidFill>
            <a:prstDash val="solid"/>
          </a:ln>
        </p:spPr>
      </p:sp>
      <p:sp>
        <p:nvSpPr>
          <p:cNvPr id="24" name="text-57">
            <a:extLst xmlns:a="http://schemas.openxmlformats.org/drawingml/2006/main">
              <a:ext uri="{FF2B5EF4-FFF2-40B4-BE49-F238E27FC236}">
                <a16:creationId xmlns:a16="http://schemas.microsoft.com/office/drawing/2014/main" id="{2A7C22C2-3791-4185-85B7-1506D555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71850"/>
            <a:ext cx="1504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回应取消原因</a:t>
            </a:r>
          </a:p>
        </p:txBody>
      </p:sp>
      <p:sp>
        <p:nvSpPr>
          <p:cNvPr id="25" name="text-58">
            <a:extLst xmlns:a="http://schemas.openxmlformats.org/drawingml/2006/main">
              <a:ext uri="{FF2B5EF4-FFF2-40B4-BE49-F238E27FC236}">
                <a16:creationId xmlns:a16="http://schemas.microsoft.com/office/drawing/2014/main" id="{AB5AC2CF-9967-4D9B-A707-44423C89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24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林霁工作室</a:t>
            </a:r>
          </a:p>
        </p:txBody>
      </p:sp>
      <p:sp>
        <p:nvSpPr>
          <p:cNvPr id="26" name="text-59">
            <a:extLst xmlns:a="http://schemas.openxmlformats.org/drawingml/2006/main">
              <a:ext uri="{FF2B5EF4-FFF2-40B4-BE49-F238E27FC236}">
                <a16:creationId xmlns:a16="http://schemas.microsoft.com/office/drawing/2014/main" id="{F5547E0C-42DF-47AF-8A59-ED04B3F4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14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艺人工作室</a:t>
            </a:r>
          </a:p>
        </p:txBody>
      </p:sp>
      <p:sp>
        <p:nvSpPr>
          <p:cNvPr id="27" name="box-60">
            <a:extLst xmlns:a="http://schemas.openxmlformats.org/drawingml/2006/main">
              <a:ext uri="{FF2B5EF4-FFF2-40B4-BE49-F238E27FC236}">
                <a16:creationId xmlns:a16="http://schemas.microsoft.com/office/drawing/2014/main" id="{A01D6F17-9CEE-4815-9E6D-0FC4CE44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71712"/>
            </a:solidFill>
            <a:prstDash val="solid"/>
          </a:ln>
        </p:spPr>
      </p:sp>
      <p:sp>
        <p:nvSpPr>
          <p:cNvPr id="28" name="box-61">
            <a:extLst xmlns:a="http://schemas.openxmlformats.org/drawingml/2006/main">
              <a:ext uri="{FF2B5EF4-FFF2-40B4-BE49-F238E27FC236}">
                <a16:creationId xmlns:a16="http://schemas.microsoft.com/office/drawing/2014/main" id="{5AAB86A9-5F00-4934-B26A-B633D052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29" name="box-62">
            <a:extLst xmlns:a="http://schemas.openxmlformats.org/drawingml/2006/main">
              <a:ext uri="{FF2B5EF4-FFF2-40B4-BE49-F238E27FC236}">
                <a16:creationId xmlns:a16="http://schemas.microsoft.com/office/drawing/2014/main" id="{674C9438-276A-4167-9E71-7D78697C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1657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0">
            <a:solidFill>
              <a:srgbClr val="E7DFD1"/>
            </a:solidFill>
            <a:prstDash val="solid"/>
          </a:ln>
        </p:spPr>
      </p:sp>
      <p:sp>
        <p:nvSpPr>
          <p:cNvPr id="30" name="text-63">
            <a:extLst xmlns:a="http://schemas.openxmlformats.org/drawingml/2006/main">
              <a:ext uri="{FF2B5EF4-FFF2-40B4-BE49-F238E27FC236}">
                <a16:creationId xmlns:a16="http://schemas.microsoft.com/office/drawing/2014/main" id="{CD475828-00D8-4AE1-BE7E-1DCB642E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504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开放退款</a:t>
            </a:r>
          </a:p>
        </p:txBody>
      </p:sp>
      <p:sp>
        <p:nvSpPr>
          <p:cNvPr id="31" name="text-64">
            <a:extLst xmlns:a="http://schemas.openxmlformats.org/drawingml/2006/main">
              <a:ext uri="{FF2B5EF4-FFF2-40B4-BE49-F238E27FC236}">
                <a16:creationId xmlns:a16="http://schemas.microsoft.com/office/drawing/2014/main" id="{64B458FC-9C39-4994-87B4-6D3D6DFB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24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购票观众</a:t>
            </a:r>
          </a:p>
        </p:txBody>
      </p:sp>
      <p:sp>
        <p:nvSpPr>
          <p:cNvPr id="32" name="text-65">
            <a:extLst xmlns:a="http://schemas.openxmlformats.org/drawingml/2006/main">
              <a:ext uri="{FF2B5EF4-FFF2-40B4-BE49-F238E27FC236}">
                <a16:creationId xmlns:a16="http://schemas.microsoft.com/office/drawing/2014/main" id="{1EAE054F-80E1-409A-AA33-81FB6E83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14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受阵容调整影响</a:t>
            </a:r>
          </a:p>
        </p:txBody>
      </p:sp>
    </p:spTree>
    <p:extLst>
      <p:ext uri="{BB962C8B-B14F-4D97-AF65-F5344CB8AC3E}">
        <p14:creationId xmlns:p14="http://schemas.microsoft.com/office/powerpoint/2010/main" val="298063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66">
            <a:extLst xmlns:a="http://schemas.openxmlformats.org/drawingml/2006/main">
              <a:ext uri="{FF2B5EF4-FFF2-40B4-BE49-F238E27FC236}">
                <a16:creationId xmlns:a16="http://schemas.microsoft.com/office/drawing/2014/main" id="{193961B3-AAA1-4555-AE46-3EB37281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TIMELINE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04BFDBE0-C1A2-4057-AB7D-DCA801DE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33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时间线把原始发布与后续解读分开</a:t>
            </a:r>
          </a:p>
        </p:txBody>
      </p:sp>
      <p:sp>
        <p:nvSpPr>
          <p:cNvPr id="3" name="line-68">
            <a:extLst xmlns:a="http://schemas.openxmlformats.org/drawingml/2006/main">
              <a:ext uri="{FF2B5EF4-FFF2-40B4-BE49-F238E27FC236}">
                <a16:creationId xmlns:a16="http://schemas.microsoft.com/office/drawing/2014/main" id="{311D975B-D616-40EF-A622-8A51D2D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4" name="line-69">
            <a:extLst xmlns:a="http://schemas.openxmlformats.org/drawingml/2006/main">
              <a:ext uri="{FF2B5EF4-FFF2-40B4-BE49-F238E27FC236}">
                <a16:creationId xmlns:a16="http://schemas.microsoft.com/office/drawing/2014/main" id="{9002B4F8-49D4-429D-B2BD-C1835027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5" name="text-70">
            <a:extLst xmlns:a="http://schemas.openxmlformats.org/drawingml/2006/main">
              <a:ext uri="{FF2B5EF4-FFF2-40B4-BE49-F238E27FC236}">
                <a16:creationId xmlns:a16="http://schemas.microsoft.com/office/drawing/2014/main" id="{E8E9CD42-990C-4389-A1F7-61D63004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CHIGUA LENS · FICTIONAL DEMO / 虚构演示数据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B1CA555F-09FF-4F6C-BDD8-B94CD499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  <p:sp>
        <p:nvSpPr>
          <p:cNvPr id="7" name="line-72">
            <a:extLst xmlns:a="http://schemas.openxmlformats.org/drawingml/2006/main">
              <a:ext uri="{FF2B5EF4-FFF2-40B4-BE49-F238E27FC236}">
                <a16:creationId xmlns:a16="http://schemas.microsoft.com/office/drawing/2014/main" id="{7A816030-6CF3-4263-B0DA-3B0EB812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8" name="box-73">
            <a:extLst xmlns:a="http://schemas.openxmlformats.org/drawingml/2006/main">
              <a:ext uri="{FF2B5EF4-FFF2-40B4-BE49-F238E27FC236}">
                <a16:creationId xmlns:a16="http://schemas.microsoft.com/office/drawing/2014/main" id="{EB5F4396-82E4-4D74-9260-A979901E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19050">
            <a:solidFill>
              <a:srgbClr val="171712"/>
            </a:solidFill>
            <a:prstDash val="solid"/>
          </a:ln>
        </p:spPr>
      </p:sp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D2F5EEAD-1E51-46DC-910F-A99B3B80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8月8日 08:42</a:t>
            </a:r>
          </a:p>
        </p:txBody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829ACDFA-A00B-4365-B2FD-383D9098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主办方官宣阵容调整</a:t>
            </a:r>
          </a:p>
        </p:txBody>
      </p:sp>
      <p:sp>
        <p:nvSpPr>
          <p:cNvPr id="11" name="box-76">
            <a:extLst xmlns:a="http://schemas.openxmlformats.org/drawingml/2006/main">
              <a:ext uri="{FF2B5EF4-FFF2-40B4-BE49-F238E27FC236}">
                <a16:creationId xmlns:a16="http://schemas.microsoft.com/office/drawing/2014/main" id="{77E1126F-A1CA-4504-8016-E0A0CA99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9715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12" name="text-77">
            <a:extLst xmlns:a="http://schemas.openxmlformats.org/drawingml/2006/main">
              <a:ext uri="{FF2B5EF4-FFF2-40B4-BE49-F238E27FC236}">
                <a16:creationId xmlns:a16="http://schemas.microsoft.com/office/drawing/2014/main" id="{0F979A79-9723-42ED-B889-69A76DA3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861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已确认</a:t>
            </a:r>
          </a:p>
        </p:txBody>
      </p:sp>
      <p:sp>
        <p:nvSpPr>
          <p:cNvPr id="13" name="text-78">
            <a:extLst xmlns:a="http://schemas.openxmlformats.org/drawingml/2006/main">
              <a:ext uri="{FF2B5EF4-FFF2-40B4-BE49-F238E27FC236}">
                <a16:creationId xmlns:a16="http://schemas.microsoft.com/office/drawing/2014/main" id="{3647756B-C7DE-4BE7-ABFF-52C6A66C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公告称艺人因行程冲突不再参加周末演出。</a:t>
            </a:r>
          </a:p>
        </p:txBody>
      </p:sp>
      <p:sp>
        <p:nvSpPr>
          <p:cNvPr id="14" name="box-79">
            <a:extLst xmlns:a="http://schemas.openxmlformats.org/drawingml/2006/main">
              <a:ext uri="{FF2B5EF4-FFF2-40B4-BE49-F238E27FC236}">
                <a16:creationId xmlns:a16="http://schemas.microsoft.com/office/drawing/2014/main" id="{4DBC1458-15F2-49DC-8490-628664A7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81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19050">
            <a:solidFill>
              <a:srgbClr val="171712"/>
            </a:solidFill>
            <a:prstDash val="solid"/>
          </a:ln>
        </p:spPr>
      </p:sp>
      <p:sp>
        <p:nvSpPr>
          <p:cNvPr id="15" name="text-80">
            <a:extLst xmlns:a="http://schemas.openxmlformats.org/drawingml/2006/main">
              <a:ext uri="{FF2B5EF4-FFF2-40B4-BE49-F238E27FC236}">
                <a16:creationId xmlns:a16="http://schemas.microsoft.com/office/drawing/2014/main" id="{B8453117-F642-4BA2-906B-A59F81FF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85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8月8日 09:17</a:t>
            </a:r>
          </a:p>
        </p:txBody>
      </p:sp>
      <p:sp>
        <p:nvSpPr>
          <p:cNvPr id="16" name="text-81">
            <a:extLst xmlns:a="http://schemas.openxmlformats.org/drawingml/2006/main">
              <a:ext uri="{FF2B5EF4-FFF2-40B4-BE49-F238E27FC236}">
                <a16:creationId xmlns:a16="http://schemas.microsoft.com/office/drawing/2014/main" id="{3610E058-A241-46B3-AF23-2D73CED5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工作室否认行程冲突</a:t>
            </a:r>
          </a:p>
        </p:txBody>
      </p:sp>
      <p:sp>
        <p:nvSpPr>
          <p:cNvPr id="17" name="box-82">
            <a:extLst xmlns:a="http://schemas.openxmlformats.org/drawingml/2006/main">
              <a:ext uri="{FF2B5EF4-FFF2-40B4-BE49-F238E27FC236}">
                <a16:creationId xmlns:a16="http://schemas.microsoft.com/office/drawing/2014/main" id="{5D609EC5-1E69-4342-B40C-964C9437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38550"/>
            <a:ext cx="9715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18" name="text-83">
            <a:extLst xmlns:a="http://schemas.openxmlformats.org/drawingml/2006/main">
              <a:ext uri="{FF2B5EF4-FFF2-40B4-BE49-F238E27FC236}">
                <a16:creationId xmlns:a16="http://schemas.microsoft.com/office/drawing/2014/main" id="{845334FE-013E-4E97-895D-A3D0781E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861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说法冲突</a:t>
            </a:r>
          </a:p>
        </p:txBody>
      </p:sp>
      <p:sp>
        <p:nvSpPr>
          <p:cNvPr id="19" name="text-84">
            <a:extLst xmlns:a="http://schemas.openxmlformats.org/drawingml/2006/main">
              <a:ext uri="{FF2B5EF4-FFF2-40B4-BE49-F238E27FC236}">
                <a16:creationId xmlns:a16="http://schemas.microsoft.com/office/drawing/2014/main" id="{BE6134FA-C4E9-43E3-A103-CA426C02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148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工作室称已预留档期，取消决定来自活动方。</a:t>
            </a:r>
          </a:p>
        </p:txBody>
      </p:sp>
      <p:sp>
        <p:nvSpPr>
          <p:cNvPr id="20" name="box-85">
            <a:extLst xmlns:a="http://schemas.openxmlformats.org/drawingml/2006/main">
              <a:ext uri="{FF2B5EF4-FFF2-40B4-BE49-F238E27FC236}">
                <a16:creationId xmlns:a16="http://schemas.microsoft.com/office/drawing/2014/main" id="{916D06BD-6827-45CD-8339-9AF75DE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81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FD1"/>
          </a:solidFill>
          <a:ln xmlns:a="http://schemas.openxmlformats.org/drawingml/2006/main" w="19050">
            <a:solidFill>
              <a:srgbClr val="171712"/>
            </a:solidFill>
            <a:prstDash val="solid"/>
          </a:ln>
        </p:spPr>
      </p:sp>
      <p:sp>
        <p:nvSpPr>
          <p:cNvPr id="21" name="text-86">
            <a:extLst xmlns:a="http://schemas.openxmlformats.org/drawingml/2006/main">
              <a:ext uri="{FF2B5EF4-FFF2-40B4-BE49-F238E27FC236}">
                <a16:creationId xmlns:a16="http://schemas.microsoft.com/office/drawing/2014/main" id="{CDDB90D7-214D-4ED5-84A5-748010D1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85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8月8日 10:05</a:t>
            </a:r>
          </a:p>
        </p:txBody>
      </p:sp>
      <p:sp>
        <p:nvSpPr>
          <p:cNvPr id="22" name="text-87">
            <a:extLst xmlns:a="http://schemas.openxmlformats.org/drawingml/2006/main">
              <a:ext uri="{FF2B5EF4-FFF2-40B4-BE49-F238E27FC236}">
                <a16:creationId xmlns:a16="http://schemas.microsoft.com/office/drawing/2014/main" id="{E6310DD8-3BFA-4B31-B2EF-1C3AD5E6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旧版演出海报被转发</a:t>
            </a:r>
          </a:p>
        </p:txBody>
      </p:sp>
      <p:sp>
        <p:nvSpPr>
          <p:cNvPr id="23" name="box-88">
            <a:extLst xmlns:a="http://schemas.openxmlformats.org/drawingml/2006/main">
              <a:ext uri="{FF2B5EF4-FFF2-40B4-BE49-F238E27FC236}">
                <a16:creationId xmlns:a16="http://schemas.microsoft.com/office/drawing/2014/main" id="{932182E8-78AD-4B16-8D17-FEF83FFC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9715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0">
            <a:solidFill>
              <a:srgbClr val="E7DFD1"/>
            </a:solidFill>
            <a:prstDash val="solid"/>
          </a:ln>
        </p:spPr>
      </p:sp>
      <p:sp>
        <p:nvSpPr>
          <p:cNvPr id="24" name="text-89">
            <a:extLst xmlns:a="http://schemas.openxmlformats.org/drawingml/2006/main">
              <a:ext uri="{FF2B5EF4-FFF2-40B4-BE49-F238E27FC236}">
                <a16:creationId xmlns:a16="http://schemas.microsoft.com/office/drawing/2014/main" id="{C7830733-BA0F-4EA1-B8C8-D42C66FA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861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尚未证实</a:t>
            </a:r>
          </a:p>
        </p:txBody>
      </p:sp>
      <p:sp>
        <p:nvSpPr>
          <p:cNvPr id="25" name="text-90">
            <a:extLst xmlns:a="http://schemas.openxmlformats.org/drawingml/2006/main">
              <a:ext uri="{FF2B5EF4-FFF2-40B4-BE49-F238E27FC236}">
                <a16:creationId xmlns:a16="http://schemas.microsoft.com/office/drawing/2014/main" id="{CAE57B06-C5A5-4A58-A3E6-11ADB3C9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两天前公开的场地图仍保留艺人名字。</a:t>
            </a:r>
          </a:p>
        </p:txBody>
      </p:sp>
      <p:sp>
        <p:nvSpPr>
          <p:cNvPr id="26" name="box-91">
            <a:extLst xmlns:a="http://schemas.openxmlformats.org/drawingml/2006/main">
              <a:ext uri="{FF2B5EF4-FFF2-40B4-BE49-F238E27FC236}">
                <a16:creationId xmlns:a16="http://schemas.microsoft.com/office/drawing/2014/main" id="{08548191-B502-4607-BD03-BC85963D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81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19050">
            <a:solidFill>
              <a:srgbClr val="171712"/>
            </a:solidFill>
            <a:prstDash val="solid"/>
          </a:ln>
        </p:spPr>
      </p:sp>
      <p:sp>
        <p:nvSpPr>
          <p:cNvPr id="27" name="text-92">
            <a:extLst xmlns:a="http://schemas.openxmlformats.org/drawingml/2006/main">
              <a:ext uri="{FF2B5EF4-FFF2-40B4-BE49-F238E27FC236}">
                <a16:creationId xmlns:a16="http://schemas.microsoft.com/office/drawing/2014/main" id="{9C552EA6-A342-417A-962A-86953692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8月8日 12:26</a:t>
            </a:r>
          </a:p>
        </p:txBody>
      </p:sp>
      <p:sp>
        <p:nvSpPr>
          <p:cNvPr id="28" name="text-93">
            <a:extLst xmlns:a="http://schemas.openxmlformats.org/drawingml/2006/main">
              <a:ext uri="{FF2B5EF4-FFF2-40B4-BE49-F238E27FC236}">
                <a16:creationId xmlns:a16="http://schemas.microsoft.com/office/drawing/2014/main" id="{188E26E0-A6E2-418E-A2AD-D7CB16E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38375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主办方补充退款方案</a:t>
            </a:r>
          </a:p>
        </p:txBody>
      </p:sp>
      <p:sp>
        <p:nvSpPr>
          <p:cNvPr id="29" name="box-94">
            <a:extLst xmlns:a="http://schemas.openxmlformats.org/drawingml/2006/main">
              <a:ext uri="{FF2B5EF4-FFF2-40B4-BE49-F238E27FC236}">
                <a16:creationId xmlns:a16="http://schemas.microsoft.com/office/drawing/2014/main" id="{15F2C825-C5B1-4D4C-90C6-416318F0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9715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30" name="text-95">
            <a:extLst xmlns:a="http://schemas.openxmlformats.org/drawingml/2006/main">
              <a:ext uri="{FF2B5EF4-FFF2-40B4-BE49-F238E27FC236}">
                <a16:creationId xmlns:a16="http://schemas.microsoft.com/office/drawing/2014/main" id="{B2131B96-B94F-4005-ABA3-B1C1ECE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861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已确认</a:t>
            </a:r>
          </a:p>
        </p:txBody>
      </p:sp>
      <p:sp>
        <p:nvSpPr>
          <p:cNvPr id="31" name="text-96">
            <a:extLst xmlns:a="http://schemas.openxmlformats.org/drawingml/2006/main">
              <a:ext uri="{FF2B5EF4-FFF2-40B4-BE49-F238E27FC236}">
                <a16:creationId xmlns:a16="http://schemas.microsoft.com/office/drawing/2014/main" id="{9824C2F9-56A2-4D6D-A883-5AB7CA4A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新增单日票无条件退款通道，未再解释原因。</a:t>
            </a:r>
          </a:p>
        </p:txBody>
      </p:sp>
      <p:sp>
        <p:nvSpPr>
          <p:cNvPr id="32" name="text-97">
            <a:extLst xmlns:a="http://schemas.openxmlformats.org/drawingml/2006/main">
              <a:ext uri="{FF2B5EF4-FFF2-40B4-BE49-F238E27FC236}">
                <a16:creationId xmlns:a16="http://schemas.microsoft.com/office/drawing/2014/main" id="{3B825F51-AD99-4DB7-92D5-653415DB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时间顺序能确认信息如何变化，但不能单独证明任何一方的动机。</a:t>
            </a:r>
          </a:p>
        </p:txBody>
      </p:sp>
    </p:spTree>
    <p:extLst>
      <p:ext uri="{BB962C8B-B14F-4D97-AF65-F5344CB8AC3E}">
        <p14:creationId xmlns:p14="http://schemas.microsoft.com/office/powerpoint/2010/main" val="842112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8">
            <a:extLst xmlns:a="http://schemas.openxmlformats.org/drawingml/2006/main">
              <a:ext uri="{FF2B5EF4-FFF2-40B4-BE49-F238E27FC236}">
                <a16:creationId xmlns:a16="http://schemas.microsoft.com/office/drawing/2014/main" id="{1435546F-0C9D-4DA5-B063-D47F8296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CLAIM VS CLAIM</a:t>
            </a:r>
          </a:p>
        </p:txBody>
      </p:sp>
      <p:sp>
        <p:nvSpPr>
          <p:cNvPr id="2" name="text-99">
            <a:extLst xmlns:a="http://schemas.openxmlformats.org/drawingml/2006/main">
              <a:ext uri="{FF2B5EF4-FFF2-40B4-BE49-F238E27FC236}">
                <a16:creationId xmlns:a16="http://schemas.microsoft.com/office/drawing/2014/main" id="{1456846A-2125-4672-94A0-C0499EED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33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视频能确认的事实，不等于网友给出的原因</a:t>
            </a:r>
          </a:p>
        </p:txBody>
      </p:sp>
      <p:sp>
        <p:nvSpPr>
          <p:cNvPr id="3" name="line-100">
            <a:extLst xmlns:a="http://schemas.openxmlformats.org/drawingml/2006/main">
              <a:ext uri="{FF2B5EF4-FFF2-40B4-BE49-F238E27FC236}">
                <a16:creationId xmlns:a16="http://schemas.microsoft.com/office/drawing/2014/main" id="{022F794D-58C1-471E-8D7D-FE191FCA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4" name="line-101">
            <a:extLst xmlns:a="http://schemas.openxmlformats.org/drawingml/2006/main">
              <a:ext uri="{FF2B5EF4-FFF2-40B4-BE49-F238E27FC236}">
                <a16:creationId xmlns:a16="http://schemas.microsoft.com/office/drawing/2014/main" id="{84185B77-8EEE-4ADB-8D6E-E4AA34E8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34F81EED-B56F-4327-BE9D-5B6306E8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CHIGUA LENS · FICTIONAL DEMO / 虚构演示数据</a:t>
            </a:r>
          </a:p>
        </p:txBody>
      </p:sp>
      <p:sp>
        <p:nvSpPr>
          <p:cNvPr id="6" name="text-103">
            <a:extLst xmlns:a="http://schemas.openxmlformats.org/drawingml/2006/main">
              <a:ext uri="{FF2B5EF4-FFF2-40B4-BE49-F238E27FC236}">
                <a16:creationId xmlns:a16="http://schemas.microsoft.com/office/drawing/2014/main" id="{739B099C-D1FE-4FF0-8DEB-55E35307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05</a:t>
            </a:r>
          </a:p>
        </p:txBody>
      </p:sp>
      <p:sp>
        <p:nvSpPr>
          <p:cNvPr id="7" name="box-104">
            <a:extLst xmlns:a="http://schemas.openxmlformats.org/drawingml/2006/main">
              <a:ext uri="{FF2B5EF4-FFF2-40B4-BE49-F238E27FC236}">
                <a16:creationId xmlns:a16="http://schemas.microsoft.com/office/drawing/2014/main" id="{E6A7478D-CD66-494A-84EF-8BCA1EE2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0006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E6"/>
          </a:solidFill>
          <a:ln xmlns:a="http://schemas.openxmlformats.org/drawingml/2006/main" w="0">
            <a:solidFill>
              <a:srgbClr val="3459E6"/>
            </a:solidFill>
            <a:prstDash val="solid"/>
          </a:ln>
        </p:spPr>
      </p:sp>
      <p:sp>
        <p:nvSpPr>
          <p:cNvPr id="8" name="box-105">
            <a:extLst xmlns:a="http://schemas.openxmlformats.org/drawingml/2006/main">
              <a:ext uri="{FF2B5EF4-FFF2-40B4-BE49-F238E27FC236}">
                <a16:creationId xmlns:a16="http://schemas.microsoft.com/office/drawing/2014/main" id="{47F7F603-03CF-4457-A04D-C960F62F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50006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42BB16F5-82F5-47E4-B562-79E3B85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DEB5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CDEB58"/>
                </a:solidFill>
                <a:latin typeface="Source Han Sans CN"/>
                <a:ea typeface="Source Han Sans CN"/>
                <a:cs typeface="Source Han Sans CN"/>
              </a:rPr>
              <a:t>活动方</a:t>
            </a:r>
          </a:p>
        </p:txBody>
      </p:sp>
      <p:sp>
        <p:nvSpPr>
          <p:cNvPr id="10" name="text-107">
            <a:extLst xmlns:a="http://schemas.openxmlformats.org/drawingml/2006/main">
              <a:ext uri="{FF2B5EF4-FFF2-40B4-BE49-F238E27FC236}">
                <a16:creationId xmlns:a16="http://schemas.microsoft.com/office/drawing/2014/main" id="{B74EC357-BC75-4A84-8E97-2554BAD5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EFE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F3EFE6"/>
                </a:solidFill>
                <a:latin typeface="Source Han Sans CN"/>
                <a:ea typeface="Source Han Sans CN"/>
                <a:cs typeface="Source Han Sans CN"/>
              </a:rPr>
              <a:t>材料摘要（转述）</a:t>
            </a:r>
          </a:p>
        </p:txBody>
      </p:sp>
      <p:sp>
        <p:nvSpPr>
          <p:cNvPr id="11" name="text-108">
            <a:extLst xmlns:a="http://schemas.openxmlformats.org/drawingml/2006/main">
              <a:ext uri="{FF2B5EF4-FFF2-40B4-BE49-F238E27FC236}">
                <a16:creationId xmlns:a16="http://schemas.microsoft.com/office/drawing/2014/main" id="{CAE84341-B3FA-4E0E-BE04-EB81B076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本次阵容调整是因为艺人行程冲突。</a:t>
            </a:r>
          </a:p>
        </p:txBody>
      </p:sp>
      <p:sp>
        <p:nvSpPr>
          <p:cNvPr id="12" name="text-109">
            <a:extLst xmlns:a="http://schemas.openxmlformats.org/drawingml/2006/main">
              <a:ext uri="{FF2B5EF4-FFF2-40B4-BE49-F238E27FC236}">
                <a16:creationId xmlns:a16="http://schemas.microsoft.com/office/drawing/2014/main" id="{B3BE8BE4-01CE-4417-8ADB-4D2F5A32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09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EFE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0">
                <a:solidFill>
                  <a:srgbClr val="F3EFE6"/>
                </a:solidFill>
                <a:latin typeface="Source Han Sans CN"/>
                <a:ea typeface="Source Han Sans CN"/>
                <a:cs typeface="Source Han Sans CN"/>
              </a:rPr>
              <a:t>信源：s1</a:t>
            </a:r>
          </a:p>
        </p:txBody>
      </p:sp>
      <p:sp>
        <p:nvSpPr>
          <p:cNvPr id="13" name="text-110">
            <a:extLst xmlns:a="http://schemas.openxmlformats.org/drawingml/2006/main">
              <a:ext uri="{FF2B5EF4-FFF2-40B4-BE49-F238E27FC236}">
                <a16:creationId xmlns:a16="http://schemas.microsoft.com/office/drawing/2014/main" id="{76971561-FD8A-4D4B-929F-792C766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526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工作室</a:t>
            </a:r>
          </a:p>
        </p:txBody>
      </p:sp>
      <p:sp>
        <p:nvSpPr>
          <p:cNvPr id="14" name="text-111">
            <a:extLst xmlns:a="http://schemas.openxmlformats.org/drawingml/2006/main">
              <a:ext uri="{FF2B5EF4-FFF2-40B4-BE49-F238E27FC236}">
                <a16:creationId xmlns:a16="http://schemas.microsoft.com/office/drawing/2014/main" id="{F935785F-1721-436B-8C0E-5491DC8F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47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EFE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F3EFE6"/>
                </a:solidFill>
                <a:latin typeface="Source Han Sans CN"/>
                <a:ea typeface="Source Han Sans CN"/>
                <a:cs typeface="Source Han Sans CN"/>
              </a:rPr>
              <a:t>材料摘要（转述）</a:t>
            </a:r>
          </a:p>
        </p:txBody>
      </p:sp>
      <p:sp>
        <p:nvSpPr>
          <p:cNvPr id="15" name="text-112">
            <a:extLst xmlns:a="http://schemas.openxmlformats.org/drawingml/2006/main">
              <a:ext uri="{FF2B5EF4-FFF2-40B4-BE49-F238E27FC236}">
                <a16:creationId xmlns:a16="http://schemas.microsoft.com/office/drawing/2014/main" id="{76C74DE2-E34E-466C-84DE-53A70F98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97180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演出档期已预留，取消决定来自活动方。</a:t>
            </a:r>
          </a:p>
        </p:txBody>
      </p:sp>
      <p:sp>
        <p:nvSpPr>
          <p:cNvPr id="16" name="text-113">
            <a:extLst xmlns:a="http://schemas.openxmlformats.org/drawingml/2006/main">
              <a:ext uri="{FF2B5EF4-FFF2-40B4-BE49-F238E27FC236}">
                <a16:creationId xmlns:a16="http://schemas.microsoft.com/office/drawing/2014/main" id="{550E0D9F-125B-4F15-95FE-6E802F72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91050"/>
            <a:ext cx="409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3EFE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0">
                <a:solidFill>
                  <a:srgbClr val="F3EFE6"/>
                </a:solidFill>
                <a:latin typeface="Source Han Sans CN"/>
                <a:ea typeface="Source Han Sans CN"/>
                <a:cs typeface="Source Han Sans CN"/>
              </a:rPr>
              <a:t>信源：s2</a:t>
            </a:r>
          </a:p>
        </p:txBody>
      </p:sp>
      <p:sp>
        <p:nvSpPr>
          <p:cNvPr id="17" name="box-114">
            <a:extLst xmlns:a="http://schemas.openxmlformats.org/drawingml/2006/main">
              <a:ext uri="{FF2B5EF4-FFF2-40B4-BE49-F238E27FC236}">
                <a16:creationId xmlns:a16="http://schemas.microsoft.com/office/drawing/2014/main" id="{FB58F588-11DF-4236-BC7C-715DA7D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38775"/>
            <a:ext cx="6629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DEB58"/>
          </a:solidFill>
          <a:ln xmlns:a="http://schemas.openxmlformats.org/drawingml/2006/main" w="19050">
            <a:solidFill>
              <a:srgbClr val="171712"/>
            </a:solidFill>
            <a:prstDash val="solid"/>
          </a:ln>
        </p:spPr>
      </p:sp>
      <p:sp>
        <p:nvSpPr>
          <p:cNvPr id="18" name="text-115">
            <a:extLst xmlns:a="http://schemas.openxmlformats.org/drawingml/2006/main">
              <a:ext uri="{FF2B5EF4-FFF2-40B4-BE49-F238E27FC236}">
                <a16:creationId xmlns:a16="http://schemas.microsoft.com/office/drawing/2014/main" id="{92703CA0-3C9A-4692-9A94-106DC5BF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911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共同事实：双方都确认林霁不会参加本场演出。</a:t>
            </a:r>
          </a:p>
        </p:txBody>
      </p:sp>
    </p:spTree>
    <p:extLst>
      <p:ext uri="{BB962C8B-B14F-4D97-AF65-F5344CB8AC3E}">
        <p14:creationId xmlns:p14="http://schemas.microsoft.com/office/powerpoint/2010/main" val="656702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116">
            <a:extLst xmlns:a="http://schemas.openxmlformats.org/drawingml/2006/main">
              <a:ext uri="{FF2B5EF4-FFF2-40B4-BE49-F238E27FC236}">
                <a16:creationId xmlns:a16="http://schemas.microsoft.com/office/drawing/2014/main" id="{570E509B-CD23-4F1E-86C0-BF2C36C5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EVIDENCE BOARD</a:t>
            </a:r>
          </a:p>
        </p:txBody>
      </p:sp>
      <p:sp>
        <p:nvSpPr>
          <p:cNvPr id="2" name="text-117">
            <a:extLst xmlns:a="http://schemas.openxmlformats.org/drawingml/2006/main">
              <a:ext uri="{FF2B5EF4-FFF2-40B4-BE49-F238E27FC236}">
                <a16:creationId xmlns:a16="http://schemas.microsoft.com/office/drawing/2014/main" id="{5512458B-43DB-4E90-8FF5-07F83CED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33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把“大家都在说”拆成可以逐一检查的材料</a:t>
            </a:r>
          </a:p>
        </p:txBody>
      </p:sp>
      <p:sp>
        <p:nvSpPr>
          <p:cNvPr id="3" name="line-118">
            <a:extLst xmlns:a="http://schemas.openxmlformats.org/drawingml/2006/main">
              <a:ext uri="{FF2B5EF4-FFF2-40B4-BE49-F238E27FC236}">
                <a16:creationId xmlns:a16="http://schemas.microsoft.com/office/drawing/2014/main" id="{7A02580D-E48A-48DE-BAAF-E3F10BAF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4" name="line-119">
            <a:extLst xmlns:a="http://schemas.openxmlformats.org/drawingml/2006/main">
              <a:ext uri="{FF2B5EF4-FFF2-40B4-BE49-F238E27FC236}">
                <a16:creationId xmlns:a16="http://schemas.microsoft.com/office/drawing/2014/main" id="{697E6423-83CC-485A-870F-745F8876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5" name="text-120">
            <a:extLst xmlns:a="http://schemas.openxmlformats.org/drawingml/2006/main">
              <a:ext uri="{FF2B5EF4-FFF2-40B4-BE49-F238E27FC236}">
                <a16:creationId xmlns:a16="http://schemas.microsoft.com/office/drawing/2014/main" id="{0E14A18B-8ADB-47CC-8F92-45ECF8D2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CHIGUA LENS · FICTIONAL DEMO / 虚构演示数据</a:t>
            </a:r>
          </a:p>
        </p:txBody>
      </p:sp>
      <p:sp>
        <p:nvSpPr>
          <p:cNvPr id="6" name="text-121">
            <a:extLst xmlns:a="http://schemas.openxmlformats.org/drawingml/2006/main">
              <a:ext uri="{FF2B5EF4-FFF2-40B4-BE49-F238E27FC236}">
                <a16:creationId xmlns:a16="http://schemas.microsoft.com/office/drawing/2014/main" id="{4049D98E-21DE-42C4-8ECA-FF1810D3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06</a:t>
            </a:r>
          </a:p>
        </p:txBody>
      </p:sp>
      <p:sp>
        <p:nvSpPr>
          <p:cNvPr id="7" name="box-122">
            <a:extLst xmlns:a="http://schemas.openxmlformats.org/drawingml/2006/main">
              <a:ext uri="{FF2B5EF4-FFF2-40B4-BE49-F238E27FC236}">
                <a16:creationId xmlns:a16="http://schemas.microsoft.com/office/drawing/2014/main" id="{CBF87D94-3490-4EA0-A895-D7D3A64D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8" name="text-123">
            <a:extLst xmlns:a="http://schemas.openxmlformats.org/drawingml/2006/main">
              <a:ext uri="{FF2B5EF4-FFF2-40B4-BE49-F238E27FC236}">
                <a16:creationId xmlns:a16="http://schemas.microsoft.com/office/drawing/2014/main" id="{D06F6019-546F-4783-9D54-F0C35A2D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0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01</a:t>
            </a:r>
          </a:p>
        </p:txBody>
      </p:sp>
      <p:sp>
        <p:nvSpPr>
          <p:cNvPr id="9" name="text-124">
            <a:extLst xmlns:a="http://schemas.openxmlformats.org/drawingml/2006/main">
              <a:ext uri="{FF2B5EF4-FFF2-40B4-BE49-F238E27FC236}">
                <a16:creationId xmlns:a16="http://schemas.microsoft.com/office/drawing/2014/main" id="{0BD158DF-914A-484F-B149-FE9B52D3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1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双方确认退出演出</a:t>
            </a:r>
          </a:p>
        </p:txBody>
      </p:sp>
      <p:sp>
        <p:nvSpPr>
          <p:cNvPr id="10" name="text-125">
            <a:extLst xmlns:a="http://schemas.openxmlformats.org/drawingml/2006/main">
              <a:ext uri="{FF2B5EF4-FFF2-40B4-BE49-F238E27FC236}">
                <a16:creationId xmlns:a16="http://schemas.microsoft.com/office/drawing/2014/main" id="{7A125FE9-6EF1-4241-8104-993E0B16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9550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退出已经确认，分歧集中在取消原因。</a:t>
            </a:r>
          </a:p>
        </p:txBody>
      </p:sp>
      <p:sp>
        <p:nvSpPr>
          <p:cNvPr id="11" name="box-126">
            <a:extLst xmlns:a="http://schemas.openxmlformats.org/drawingml/2006/main">
              <a:ext uri="{FF2B5EF4-FFF2-40B4-BE49-F238E27FC236}">
                <a16:creationId xmlns:a16="http://schemas.microsoft.com/office/drawing/2014/main" id="{9AC4B571-960F-47B2-83F1-2B6BBB4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12" name="text-127">
            <a:extLst xmlns:a="http://schemas.openxmlformats.org/drawingml/2006/main">
              <a:ext uri="{FF2B5EF4-FFF2-40B4-BE49-F238E27FC236}">
                <a16:creationId xmlns:a16="http://schemas.microsoft.com/office/drawing/2014/main" id="{5CFBFEE9-72D5-40E4-88E5-A1FE1ECA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192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已确认</a:t>
            </a:r>
          </a:p>
        </p:txBody>
      </p:sp>
      <p:sp>
        <p:nvSpPr>
          <p:cNvPr id="13" name="text-128">
            <a:extLst xmlns:a="http://schemas.openxmlformats.org/drawingml/2006/main">
              <a:ext uri="{FF2B5EF4-FFF2-40B4-BE49-F238E27FC236}">
                <a16:creationId xmlns:a16="http://schemas.microsoft.com/office/drawing/2014/main" id="{6DC421F4-8573-4B85-B5FC-B70CCB81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来源 s1 / s2</a:t>
            </a:r>
          </a:p>
        </p:txBody>
      </p:sp>
      <p:sp>
        <p:nvSpPr>
          <p:cNvPr id="14" name="line-129">
            <a:extLst xmlns:a="http://schemas.openxmlformats.org/drawingml/2006/main">
              <a:ext uri="{FF2B5EF4-FFF2-40B4-BE49-F238E27FC236}">
                <a16:creationId xmlns:a16="http://schemas.microsoft.com/office/drawing/2014/main" id="{803E5E16-66CD-4675-8E37-34573BEC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908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2A5"/>
          </a:solidFill>
          <a:ln xmlns:a="http://schemas.openxmlformats.org/drawingml/2006/main" w="0">
            <a:solidFill>
              <a:srgbClr val="B9B2A5"/>
            </a:solidFill>
            <a:prstDash val="solid"/>
          </a:ln>
        </p:spPr>
      </p:sp>
      <p:sp>
        <p:nvSpPr>
          <p:cNvPr id="15" name="box-130">
            <a:extLst xmlns:a="http://schemas.openxmlformats.org/drawingml/2006/main">
              <a:ext uri="{FF2B5EF4-FFF2-40B4-BE49-F238E27FC236}">
                <a16:creationId xmlns:a16="http://schemas.microsoft.com/office/drawing/2014/main" id="{F87B669D-3F6B-4B81-809E-B676D8EB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16" name="text-131">
            <a:extLst xmlns:a="http://schemas.openxmlformats.org/drawingml/2006/main">
              <a:ext uri="{FF2B5EF4-FFF2-40B4-BE49-F238E27FC236}">
                <a16:creationId xmlns:a16="http://schemas.microsoft.com/office/drawing/2014/main" id="{32A3F7A9-5566-4577-8586-55F4C64E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718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02</a:t>
            </a:r>
          </a:p>
        </p:txBody>
      </p:sp>
      <p:sp>
        <p:nvSpPr>
          <p:cNvPr id="17" name="text-132">
            <a:extLst xmlns:a="http://schemas.openxmlformats.org/drawingml/2006/main">
              <a:ext uri="{FF2B5EF4-FFF2-40B4-BE49-F238E27FC236}">
                <a16:creationId xmlns:a16="http://schemas.microsoft.com/office/drawing/2014/main" id="{5C38326D-E160-4B08-987C-9D586C43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两种原因互相冲突</a:t>
            </a:r>
          </a:p>
        </p:txBody>
      </p:sp>
      <p:sp>
        <p:nvSpPr>
          <p:cNvPr id="18" name="text-133">
            <a:extLst xmlns:a="http://schemas.openxmlformats.org/drawingml/2006/main">
              <a:ext uri="{FF2B5EF4-FFF2-40B4-BE49-F238E27FC236}">
                <a16:creationId xmlns:a16="http://schemas.microsoft.com/office/drawing/2014/main" id="{8EE869C8-30A2-4930-A9D2-ADEA526F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6230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现阶段没有第三方材料能够裁决。</a:t>
            </a:r>
          </a:p>
        </p:txBody>
      </p:sp>
      <p:sp>
        <p:nvSpPr>
          <p:cNvPr id="19" name="box-134">
            <a:extLst xmlns:a="http://schemas.openxmlformats.org/drawingml/2006/main">
              <a:ext uri="{FF2B5EF4-FFF2-40B4-BE49-F238E27FC236}">
                <a16:creationId xmlns:a16="http://schemas.microsoft.com/office/drawing/2014/main" id="{014EECAB-D63E-4A1A-A5C7-ACA170A6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20" name="text-135">
            <a:extLst xmlns:a="http://schemas.openxmlformats.org/drawingml/2006/main">
              <a:ext uri="{FF2B5EF4-FFF2-40B4-BE49-F238E27FC236}">
                <a16:creationId xmlns:a16="http://schemas.microsoft.com/office/drawing/2014/main" id="{F19EDC22-6533-4178-9D34-501E5952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860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说法冲突</a:t>
            </a:r>
          </a:p>
        </p:txBody>
      </p:sp>
      <p:sp>
        <p:nvSpPr>
          <p:cNvPr id="21" name="text-136">
            <a:extLst xmlns:a="http://schemas.openxmlformats.org/drawingml/2006/main">
              <a:ext uri="{FF2B5EF4-FFF2-40B4-BE49-F238E27FC236}">
                <a16:creationId xmlns:a16="http://schemas.microsoft.com/office/drawing/2014/main" id="{BBD53586-42E4-45D2-A653-03A8074E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来源 s1 / s2</a:t>
            </a:r>
          </a:p>
        </p:txBody>
      </p:sp>
      <p:sp>
        <p:nvSpPr>
          <p:cNvPr id="22" name="line-137">
            <a:extLst xmlns:a="http://schemas.openxmlformats.org/drawingml/2006/main">
              <a:ext uri="{FF2B5EF4-FFF2-40B4-BE49-F238E27FC236}">
                <a16:creationId xmlns:a16="http://schemas.microsoft.com/office/drawing/2014/main" id="{E8C952DE-FD27-4D7A-930A-1EB85515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576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2A5"/>
          </a:solidFill>
          <a:ln xmlns:a="http://schemas.openxmlformats.org/drawingml/2006/main" w="0">
            <a:solidFill>
              <a:srgbClr val="B9B2A5"/>
            </a:solidFill>
            <a:prstDash val="solid"/>
          </a:ln>
        </p:spPr>
      </p:sp>
      <p:sp>
        <p:nvSpPr>
          <p:cNvPr id="23" name="box-138">
            <a:extLst xmlns:a="http://schemas.openxmlformats.org/drawingml/2006/main">
              <a:ext uri="{FF2B5EF4-FFF2-40B4-BE49-F238E27FC236}">
                <a16:creationId xmlns:a16="http://schemas.microsoft.com/office/drawing/2014/main" id="{AAC4180D-C336-41DA-974C-A02AB05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FD1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24" name="text-139">
            <a:extLst xmlns:a="http://schemas.openxmlformats.org/drawingml/2006/main">
              <a:ext uri="{FF2B5EF4-FFF2-40B4-BE49-F238E27FC236}">
                <a16:creationId xmlns:a16="http://schemas.microsoft.com/office/drawing/2014/main" id="{9BAF3C5F-80D0-4E44-8208-CB41B2EE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38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sp>
        <p:nvSpPr>
          <p:cNvPr id="25" name="text-140">
            <a:extLst xmlns:a="http://schemas.openxmlformats.org/drawingml/2006/main">
              <a:ext uri="{FF2B5EF4-FFF2-40B4-BE49-F238E27FC236}">
                <a16:creationId xmlns:a16="http://schemas.microsoft.com/office/drawing/2014/main" id="{0B59B5AE-8847-4362-A1CE-A5EE5902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48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舞台时长谈判失败</a:t>
            </a:r>
          </a:p>
        </p:txBody>
      </p:sp>
      <p:sp>
        <p:nvSpPr>
          <p:cNvPr id="26" name="text-141">
            <a:extLst xmlns:a="http://schemas.openxmlformats.org/drawingml/2006/main">
              <a:ext uri="{FF2B5EF4-FFF2-40B4-BE49-F238E27FC236}">
                <a16:creationId xmlns:a16="http://schemas.microsoft.com/office/drawing/2014/main" id="{F33A2D26-6CAB-4F82-B63E-8BB5B8D1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只有匿名账号转述，没有合同或聊天记录。</a:t>
            </a:r>
          </a:p>
        </p:txBody>
      </p:sp>
      <p:sp>
        <p:nvSpPr>
          <p:cNvPr id="27" name="box-142">
            <a:extLst xmlns:a="http://schemas.openxmlformats.org/drawingml/2006/main">
              <a:ext uri="{FF2B5EF4-FFF2-40B4-BE49-F238E27FC236}">
                <a16:creationId xmlns:a16="http://schemas.microsoft.com/office/drawing/2014/main" id="{CF8F0816-4C50-4300-A3D7-178DE87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0">
            <a:solidFill>
              <a:srgbClr val="E7DFD1"/>
            </a:solidFill>
            <a:prstDash val="solid"/>
          </a:ln>
        </p:spPr>
      </p:sp>
      <p:sp>
        <p:nvSpPr>
          <p:cNvPr id="28" name="text-143">
            <a:extLst xmlns:a="http://schemas.openxmlformats.org/drawingml/2006/main">
              <a:ext uri="{FF2B5EF4-FFF2-40B4-BE49-F238E27FC236}">
                <a16:creationId xmlns:a16="http://schemas.microsoft.com/office/drawing/2014/main" id="{B7AD606C-BB02-4DB5-AED6-5291E89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528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尚未证实</a:t>
            </a:r>
          </a:p>
        </p:txBody>
      </p:sp>
      <p:sp>
        <p:nvSpPr>
          <p:cNvPr id="29" name="text-144">
            <a:extLst xmlns:a="http://schemas.openxmlformats.org/drawingml/2006/main">
              <a:ext uri="{FF2B5EF4-FFF2-40B4-BE49-F238E27FC236}">
                <a16:creationId xmlns:a16="http://schemas.microsoft.com/office/drawing/2014/main" id="{C416C8E2-8189-4F56-B877-78D1572A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624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来源 s3</a:t>
            </a:r>
          </a:p>
        </p:txBody>
      </p:sp>
      <p:sp>
        <p:nvSpPr>
          <p:cNvPr id="30" name="line-145">
            <a:extLst xmlns:a="http://schemas.openxmlformats.org/drawingml/2006/main">
              <a:ext uri="{FF2B5EF4-FFF2-40B4-BE49-F238E27FC236}">
                <a16:creationId xmlns:a16="http://schemas.microsoft.com/office/drawing/2014/main" id="{6FF9ADDE-543B-4351-8FF7-509B2526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244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2A5"/>
          </a:solidFill>
          <a:ln xmlns:a="http://schemas.openxmlformats.org/drawingml/2006/main" w="0">
            <a:solidFill>
              <a:srgbClr val="B9B2A5"/>
            </a:solidFill>
            <a:prstDash val="solid"/>
          </a:ln>
        </p:spPr>
      </p:sp>
      <p:sp>
        <p:nvSpPr>
          <p:cNvPr id="31" name="box-146">
            <a:extLst xmlns:a="http://schemas.openxmlformats.org/drawingml/2006/main">
              <a:ext uri="{FF2B5EF4-FFF2-40B4-BE49-F238E27FC236}">
                <a16:creationId xmlns:a16="http://schemas.microsoft.com/office/drawing/2014/main" id="{AA2058C7-2DAA-423B-8AB8-A23CD6B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32" name="text-147">
            <a:extLst xmlns:a="http://schemas.openxmlformats.org/drawingml/2006/main">
              <a:ext uri="{FF2B5EF4-FFF2-40B4-BE49-F238E27FC236}">
                <a16:creationId xmlns:a16="http://schemas.microsoft.com/office/drawing/2014/main" id="{6B30E8D4-D4BB-4D3C-8E89-704156F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054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  <p:sp>
        <p:nvSpPr>
          <p:cNvPr id="33" name="text-148">
            <a:extLst xmlns:a="http://schemas.openxmlformats.org/drawingml/2006/main">
              <a:ext uri="{FF2B5EF4-FFF2-40B4-BE49-F238E27FC236}">
                <a16:creationId xmlns:a16="http://schemas.microsoft.com/office/drawing/2014/main" id="{B73D02C1-7B2F-460F-B130-990B45E0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部分票种可以退款</a:t>
            </a:r>
          </a:p>
        </p:txBody>
      </p:sp>
      <p:sp>
        <p:nvSpPr>
          <p:cNvPr id="34" name="text-149">
            <a:extLst xmlns:a="http://schemas.openxmlformats.org/drawingml/2006/main">
              <a:ext uri="{FF2B5EF4-FFF2-40B4-BE49-F238E27FC236}">
                <a16:creationId xmlns:a16="http://schemas.microsoft.com/office/drawing/2014/main" id="{5D8D5ABB-FC33-4BA8-B3A3-8546D9AE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9590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适用票种与截止时间已在补充公告中写明。</a:t>
            </a:r>
          </a:p>
        </p:txBody>
      </p:sp>
      <p:sp>
        <p:nvSpPr>
          <p:cNvPr id="35" name="box-150">
            <a:extLst xmlns:a="http://schemas.openxmlformats.org/drawingml/2006/main">
              <a:ext uri="{FF2B5EF4-FFF2-40B4-BE49-F238E27FC236}">
                <a16:creationId xmlns:a16="http://schemas.microsoft.com/office/drawing/2014/main" id="{3783CE76-C588-4660-8B2A-CE83BAE0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36" name="text-151">
            <a:extLst xmlns:a="http://schemas.openxmlformats.org/drawingml/2006/main">
              <a:ext uri="{FF2B5EF4-FFF2-40B4-BE49-F238E27FC236}">
                <a16:creationId xmlns:a16="http://schemas.microsoft.com/office/drawing/2014/main" id="{847F2E57-63C1-41F0-99A7-442553C3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0196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已确认</a:t>
            </a:r>
          </a:p>
        </p:txBody>
      </p:sp>
      <p:sp>
        <p:nvSpPr>
          <p:cNvPr id="37" name="text-152">
            <a:extLst xmlns:a="http://schemas.openxmlformats.org/drawingml/2006/main">
              <a:ext uri="{FF2B5EF4-FFF2-40B4-BE49-F238E27FC236}">
                <a16:creationId xmlns:a16="http://schemas.microsoft.com/office/drawing/2014/main" id="{075F447E-941A-42DE-A9E3-0006484A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292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来源 s4</a:t>
            </a:r>
          </a:p>
        </p:txBody>
      </p:sp>
    </p:spTree>
    <p:extLst>
      <p:ext uri="{BB962C8B-B14F-4D97-AF65-F5344CB8AC3E}">
        <p14:creationId xmlns:p14="http://schemas.microsoft.com/office/powerpoint/2010/main" val="699916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53">
            <a:extLst xmlns:a="http://schemas.openxmlformats.org/drawingml/2006/main">
              <a:ext uri="{FF2B5EF4-FFF2-40B4-BE49-F238E27FC236}">
                <a16:creationId xmlns:a16="http://schemas.microsoft.com/office/drawing/2014/main" id="{3F0B75ED-B76F-4034-A0D6-2F49AE2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VERIFICATION</a:t>
            </a:r>
          </a:p>
        </p:txBody>
      </p:sp>
      <p:sp>
        <p:nvSpPr>
          <p:cNvPr id="2" name="text-154">
            <a:extLst xmlns:a="http://schemas.openxmlformats.org/drawingml/2006/main">
              <a:ext uri="{FF2B5EF4-FFF2-40B4-BE49-F238E27FC236}">
                <a16:creationId xmlns:a16="http://schemas.microsoft.com/office/drawing/2014/main" id="{DA591D3B-CDF1-4D01-88A7-C81AA109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33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一页看清：什么能说，什么暂时不能说</a:t>
            </a:r>
          </a:p>
        </p:txBody>
      </p:sp>
      <p:sp>
        <p:nvSpPr>
          <p:cNvPr id="3" name="line-155">
            <a:extLst xmlns:a="http://schemas.openxmlformats.org/drawingml/2006/main">
              <a:ext uri="{FF2B5EF4-FFF2-40B4-BE49-F238E27FC236}">
                <a16:creationId xmlns:a16="http://schemas.microsoft.com/office/drawing/2014/main" id="{5D7CD6D0-21A7-4276-8563-B236E0A6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4" name="line-156">
            <a:extLst xmlns:a="http://schemas.openxmlformats.org/drawingml/2006/main">
              <a:ext uri="{FF2B5EF4-FFF2-40B4-BE49-F238E27FC236}">
                <a16:creationId xmlns:a16="http://schemas.microsoft.com/office/drawing/2014/main" id="{5782FF2B-7211-4567-BA84-CE14078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5" name="text-157">
            <a:extLst xmlns:a="http://schemas.openxmlformats.org/drawingml/2006/main">
              <a:ext uri="{FF2B5EF4-FFF2-40B4-BE49-F238E27FC236}">
                <a16:creationId xmlns:a16="http://schemas.microsoft.com/office/drawing/2014/main" id="{D4C5D63F-3243-46B1-8458-53C7E86D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CHIGUA LENS · FICTIONAL DEMO / 虚构演示数据</a:t>
            </a:r>
          </a:p>
        </p:txBody>
      </p:sp>
      <p:sp>
        <p:nvSpPr>
          <p:cNvPr id="6" name="text-158">
            <a:extLst xmlns:a="http://schemas.openxmlformats.org/drawingml/2006/main">
              <a:ext uri="{FF2B5EF4-FFF2-40B4-BE49-F238E27FC236}">
                <a16:creationId xmlns:a16="http://schemas.microsoft.com/office/drawing/2014/main" id="{77D7D396-A8DF-46B0-A36C-F008D3BF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07</a:t>
            </a:r>
          </a:p>
        </p:txBody>
      </p:sp>
      <p:sp>
        <p:nvSpPr>
          <p:cNvPr id="7" name="box-159">
            <a:extLst xmlns:a="http://schemas.openxmlformats.org/drawingml/2006/main">
              <a:ext uri="{FF2B5EF4-FFF2-40B4-BE49-F238E27FC236}">
                <a16:creationId xmlns:a16="http://schemas.microsoft.com/office/drawing/2014/main" id="{252843BD-74A0-464C-98A2-B2B13A20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0">
            <a:solidFill>
              <a:srgbClr val="CDEB58"/>
            </a:solidFill>
            <a:prstDash val="solid"/>
          </a:ln>
        </p:spPr>
      </p:sp>
      <p:sp>
        <p:nvSpPr>
          <p:cNvPr id="8" name="text-160">
            <a:extLst xmlns:a="http://schemas.openxmlformats.org/drawingml/2006/main">
              <a:ext uri="{FF2B5EF4-FFF2-40B4-BE49-F238E27FC236}">
                <a16:creationId xmlns:a16="http://schemas.microsoft.com/office/drawing/2014/main" id="{03F2D263-150A-4516-9554-0E4EC1AF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可以确认</a:t>
            </a:r>
          </a:p>
        </p:txBody>
      </p:sp>
      <p:sp>
        <p:nvSpPr>
          <p:cNvPr id="9" name="box-161">
            <a:extLst xmlns:a="http://schemas.openxmlformats.org/drawingml/2006/main">
              <a:ext uri="{FF2B5EF4-FFF2-40B4-BE49-F238E27FC236}">
                <a16:creationId xmlns:a16="http://schemas.microsoft.com/office/drawing/2014/main" id="{A5CF0EE8-70A5-44D1-AB61-0C0FD946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10" name="text-162">
            <a:extLst xmlns:a="http://schemas.openxmlformats.org/drawingml/2006/main">
              <a:ext uri="{FF2B5EF4-FFF2-40B4-BE49-F238E27FC236}">
                <a16:creationId xmlns:a16="http://schemas.microsoft.com/office/drawing/2014/main" id="{D319C487-CBCA-42BC-A22C-52839AA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林霁退出本周末演出</a:t>
            </a:r>
          </a:p>
        </p:txBody>
      </p:sp>
      <p:sp>
        <p:nvSpPr>
          <p:cNvPr id="11" name="line-163">
            <a:extLst xmlns:a="http://schemas.openxmlformats.org/drawingml/2006/main">
              <a:ext uri="{FF2B5EF4-FFF2-40B4-BE49-F238E27FC236}">
                <a16:creationId xmlns:a16="http://schemas.microsoft.com/office/drawing/2014/main" id="{183B5A59-83F0-419D-A798-58DD1575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2A5"/>
          </a:solidFill>
          <a:ln xmlns:a="http://schemas.openxmlformats.org/drawingml/2006/main" w="0">
            <a:solidFill>
              <a:srgbClr val="B9B2A5"/>
            </a:solidFill>
            <a:prstDash val="solid"/>
          </a:ln>
        </p:spPr>
      </p:sp>
      <p:sp>
        <p:nvSpPr>
          <p:cNvPr id="12" name="box-164">
            <a:extLst xmlns:a="http://schemas.openxmlformats.org/drawingml/2006/main">
              <a:ext uri="{FF2B5EF4-FFF2-40B4-BE49-F238E27FC236}">
                <a16:creationId xmlns:a16="http://schemas.microsoft.com/office/drawing/2014/main" id="{839C5F39-9BEA-4323-866E-5D1E4C1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13" name="text-165">
            <a:extLst xmlns:a="http://schemas.openxmlformats.org/drawingml/2006/main">
              <a:ext uri="{FF2B5EF4-FFF2-40B4-BE49-F238E27FC236}">
                <a16:creationId xmlns:a16="http://schemas.microsoft.com/office/drawing/2014/main" id="{D427F125-391E-4066-8333-FFE1C75C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主办方已开放部分票种退款</a:t>
            </a:r>
          </a:p>
        </p:txBody>
      </p:sp>
      <p:sp>
        <p:nvSpPr>
          <p:cNvPr id="14" name="box-166">
            <a:extLst xmlns:a="http://schemas.openxmlformats.org/drawingml/2006/main">
              <a:ext uri="{FF2B5EF4-FFF2-40B4-BE49-F238E27FC236}">
                <a16:creationId xmlns:a16="http://schemas.microsoft.com/office/drawing/2014/main" id="{97585B38-3A2B-45F6-8D60-67235C90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15" name="text-167">
            <a:extLst xmlns:a="http://schemas.openxmlformats.org/drawingml/2006/main">
              <a:ext uri="{FF2B5EF4-FFF2-40B4-BE49-F238E27FC236}">
                <a16:creationId xmlns:a16="http://schemas.microsoft.com/office/drawing/2014/main" id="{40166EDE-421E-4A55-B315-B4F1B56E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002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仍有冲突</a:t>
            </a:r>
          </a:p>
        </p:txBody>
      </p:sp>
      <p:sp>
        <p:nvSpPr>
          <p:cNvPr id="16" name="box-168">
            <a:extLst xmlns:a="http://schemas.openxmlformats.org/drawingml/2006/main">
              <a:ext uri="{FF2B5EF4-FFF2-40B4-BE49-F238E27FC236}">
                <a16:creationId xmlns:a16="http://schemas.microsoft.com/office/drawing/2014/main" id="{58009925-3A9C-407A-B1DE-238045A8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17" name="text-169">
            <a:extLst xmlns:a="http://schemas.openxmlformats.org/drawingml/2006/main">
              <a:ext uri="{FF2B5EF4-FFF2-40B4-BE49-F238E27FC236}">
                <a16:creationId xmlns:a16="http://schemas.microsoft.com/office/drawing/2014/main" id="{60CAEBC1-8BBC-4B0E-932B-FB24E10C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活动方与工作室对取消原因表述不同</a:t>
            </a:r>
          </a:p>
        </p:txBody>
      </p:sp>
      <p:sp>
        <p:nvSpPr>
          <p:cNvPr id="18" name="box-170">
            <a:extLst xmlns:a="http://schemas.openxmlformats.org/drawingml/2006/main">
              <a:ext uri="{FF2B5EF4-FFF2-40B4-BE49-F238E27FC236}">
                <a16:creationId xmlns:a16="http://schemas.microsoft.com/office/drawing/2014/main" id="{EE2DA881-C846-4296-A2CF-EA681827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FD1"/>
          </a:solidFill>
          <a:ln xmlns:a="http://schemas.openxmlformats.org/drawingml/2006/main" w="0">
            <a:solidFill>
              <a:srgbClr val="E7DFD1"/>
            </a:solidFill>
            <a:prstDash val="solid"/>
          </a:ln>
        </p:spPr>
      </p:sp>
      <p:sp>
        <p:nvSpPr>
          <p:cNvPr id="19" name="text-171">
            <a:extLst xmlns:a="http://schemas.openxmlformats.org/drawingml/2006/main">
              <a:ext uri="{FF2B5EF4-FFF2-40B4-BE49-F238E27FC236}">
                <a16:creationId xmlns:a16="http://schemas.microsoft.com/office/drawing/2014/main" id="{EAB1D083-F186-42B0-9F39-E5341CBE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尚未证实</a:t>
            </a:r>
          </a:p>
        </p:txBody>
      </p:sp>
      <p:sp>
        <p:nvSpPr>
          <p:cNvPr id="20" name="box-172">
            <a:extLst xmlns:a="http://schemas.openxmlformats.org/drawingml/2006/main">
              <a:ext uri="{FF2B5EF4-FFF2-40B4-BE49-F238E27FC236}">
                <a16:creationId xmlns:a16="http://schemas.microsoft.com/office/drawing/2014/main" id="{3EEACB52-A217-41B6-959D-EFC0B2A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FD1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21" name="text-173">
            <a:extLst xmlns:a="http://schemas.openxmlformats.org/drawingml/2006/main">
              <a:ext uri="{FF2B5EF4-FFF2-40B4-BE49-F238E27FC236}">
                <a16:creationId xmlns:a16="http://schemas.microsoft.com/office/drawing/2014/main" id="{4A70E1A2-2909-4E12-8619-FEEB1A8A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03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取消与舞台时长谈判失败有关</a:t>
            </a:r>
          </a:p>
        </p:txBody>
      </p:sp>
      <p:sp>
        <p:nvSpPr>
          <p:cNvPr id="22" name="box-174">
            <a:extLst xmlns:a="http://schemas.openxmlformats.org/drawingml/2006/main">
              <a:ext uri="{FF2B5EF4-FFF2-40B4-BE49-F238E27FC236}">
                <a16:creationId xmlns:a16="http://schemas.microsoft.com/office/drawing/2014/main" id="{D0C0947A-F98D-4C69-B7BF-FC5CDAF2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097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E6"/>
          </a:solidFill>
          <a:ln xmlns:a="http://schemas.openxmlformats.org/drawingml/2006/main" w="0">
            <a:solidFill>
              <a:srgbClr val="3459E6"/>
            </a:solidFill>
            <a:prstDash val="solid"/>
          </a:ln>
        </p:spPr>
      </p:sp>
      <p:sp>
        <p:nvSpPr>
          <p:cNvPr id="23" name="text-175">
            <a:extLst xmlns:a="http://schemas.openxmlformats.org/drawingml/2006/main">
              <a:ext uri="{FF2B5EF4-FFF2-40B4-BE49-F238E27FC236}">
                <a16:creationId xmlns:a16="http://schemas.microsoft.com/office/drawing/2014/main" id="{7D1931D9-9FF1-4C06-8C58-FC53EBFA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已经辟谣</a:t>
            </a:r>
          </a:p>
        </p:txBody>
      </p:sp>
      <p:sp>
        <p:nvSpPr>
          <p:cNvPr id="24" name="text-176">
            <a:extLst xmlns:a="http://schemas.openxmlformats.org/drawingml/2006/main">
              <a:ext uri="{FF2B5EF4-FFF2-40B4-BE49-F238E27FC236}">
                <a16:creationId xmlns:a16="http://schemas.microsoft.com/office/drawing/2014/main" id="{B0A9B3F2-72E1-4EDF-8949-AB63F25C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B2A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>
                <a:solidFill>
                  <a:srgbClr val="B9B2A5"/>
                </a:solidFill>
                <a:latin typeface="Source Han Sans CN"/>
                <a:ea typeface="Source Han Sans CN"/>
                <a:cs typeface="Source Han Sans CN"/>
              </a:rPr>
              <a:t>当前没有条目</a:t>
            </a:r>
          </a:p>
        </p:txBody>
      </p:sp>
    </p:spTree>
    <p:extLst>
      <p:ext uri="{BB962C8B-B14F-4D97-AF65-F5344CB8AC3E}">
        <p14:creationId xmlns:p14="http://schemas.microsoft.com/office/powerpoint/2010/main" val="10881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77">
            <a:extLst xmlns:a="http://schemas.openxmlformats.org/drawingml/2006/main">
              <a:ext uri="{FF2B5EF4-FFF2-40B4-BE49-F238E27FC236}">
                <a16:creationId xmlns:a16="http://schemas.microsoft.com/office/drawing/2014/main" id="{BA5EC11E-500C-494A-AD3A-11338750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WHAT TO WATCH</a:t>
            </a:r>
          </a:p>
        </p:txBody>
      </p:sp>
      <p:sp>
        <p:nvSpPr>
          <p:cNvPr id="2" name="text-178">
            <a:extLst xmlns:a="http://schemas.openxmlformats.org/drawingml/2006/main">
              <a:ext uri="{FF2B5EF4-FFF2-40B4-BE49-F238E27FC236}">
                <a16:creationId xmlns:a16="http://schemas.microsoft.com/office/drawing/2014/main" id="{5ACB9F13-8FBA-4E79-939E-C1FD57C0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33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下一个真正有用的信息，不是更多猜测，而是可核验的新材料</a:t>
            </a:r>
          </a:p>
        </p:txBody>
      </p:sp>
      <p:sp>
        <p:nvSpPr>
          <p:cNvPr id="3" name="line-179">
            <a:extLst xmlns:a="http://schemas.openxmlformats.org/drawingml/2006/main">
              <a:ext uri="{FF2B5EF4-FFF2-40B4-BE49-F238E27FC236}">
                <a16:creationId xmlns:a16="http://schemas.microsoft.com/office/drawing/2014/main" id="{85AEBA12-DCC1-4CD0-8578-F9E25FE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4" name="line-180">
            <a:extLst xmlns:a="http://schemas.openxmlformats.org/drawingml/2006/main">
              <a:ext uri="{FF2B5EF4-FFF2-40B4-BE49-F238E27FC236}">
                <a16:creationId xmlns:a16="http://schemas.microsoft.com/office/drawing/2014/main" id="{4B25C331-6481-4516-9144-A2ED1EF8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5" name="text-181">
            <a:extLst xmlns:a="http://schemas.openxmlformats.org/drawingml/2006/main">
              <a:ext uri="{FF2B5EF4-FFF2-40B4-BE49-F238E27FC236}">
                <a16:creationId xmlns:a16="http://schemas.microsoft.com/office/drawing/2014/main" id="{2C766858-9854-4965-8F6D-802E768D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CHIGUA LENS · FICTIONAL DEMO / 虚构演示数据</a:t>
            </a:r>
          </a:p>
        </p:txBody>
      </p:sp>
      <p:sp>
        <p:nvSpPr>
          <p:cNvPr id="6" name="text-182">
            <a:extLst xmlns:a="http://schemas.openxmlformats.org/drawingml/2006/main">
              <a:ext uri="{FF2B5EF4-FFF2-40B4-BE49-F238E27FC236}">
                <a16:creationId xmlns:a16="http://schemas.microsoft.com/office/drawing/2014/main" id="{DFA491B0-1CCE-4C88-95D7-0C092C6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08</a:t>
            </a:r>
          </a:p>
        </p:txBody>
      </p:sp>
      <p:sp>
        <p:nvSpPr>
          <p:cNvPr id="7" name="text-183">
            <a:extLst xmlns:a="http://schemas.openxmlformats.org/drawingml/2006/main">
              <a:ext uri="{FF2B5EF4-FFF2-40B4-BE49-F238E27FC236}">
                <a16:creationId xmlns:a16="http://schemas.microsoft.com/office/drawing/2014/main" id="{637FE38F-DC2D-41F2-B497-BCA36D3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rPr>
              <a:t>现在</a:t>
            </a:r>
          </a:p>
        </p:txBody>
      </p:sp>
      <p:sp>
        <p:nvSpPr>
          <p:cNvPr id="8" name="text-184">
            <a:extLst xmlns:a="http://schemas.openxmlformats.org/drawingml/2006/main">
              <a:ext uri="{FF2B5EF4-FFF2-40B4-BE49-F238E27FC236}">
                <a16:creationId xmlns:a16="http://schemas.microsoft.com/office/drawing/2014/main" id="{BF235474-6DB0-4414-90A4-7B8C57BC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572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嘉宾确认退出，但活动方与工作室对取消原因说法不一致。</a:t>
            </a:r>
          </a:p>
        </p:txBody>
      </p:sp>
      <p:sp>
        <p:nvSpPr>
          <p:cNvPr id="9" name="text-185">
            <a:extLst xmlns:a="http://schemas.openxmlformats.org/drawingml/2006/main">
              <a:ext uri="{FF2B5EF4-FFF2-40B4-BE49-F238E27FC236}">
                <a16:creationId xmlns:a16="http://schemas.microsoft.com/office/drawing/2014/main" id="{310853F9-BEF2-417C-9B1E-D3CA76F9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在新材料出现前，不把网络解读升级为本人确认。</a:t>
            </a:r>
          </a:p>
        </p:txBody>
      </p:sp>
      <p:sp>
        <p:nvSpPr>
          <p:cNvPr id="10" name="line-186">
            <a:extLst xmlns:a="http://schemas.openxmlformats.org/drawingml/2006/main">
              <a:ext uri="{FF2B5EF4-FFF2-40B4-BE49-F238E27FC236}">
                <a16:creationId xmlns:a16="http://schemas.microsoft.com/office/drawing/2014/main" id="{EA15C72B-29AB-4758-804E-A4558EED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09750"/>
            <a:ext cx="190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11" name="text-187">
            <a:extLst xmlns:a="http://schemas.openxmlformats.org/drawingml/2006/main">
              <a:ext uri="{FF2B5EF4-FFF2-40B4-BE49-F238E27FC236}">
                <a16:creationId xmlns:a16="http://schemas.microsoft.com/office/drawing/2014/main" id="{DA30002B-B0B7-432D-BEBD-A17DD8E7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6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59E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3459E6"/>
                </a:solidFill>
                <a:latin typeface="Source Han Sans CN"/>
                <a:ea typeface="Source Han Sans CN"/>
                <a:cs typeface="Source Han Sans CN"/>
              </a:rPr>
              <a:t>继续观察</a:t>
            </a:r>
          </a:p>
        </p:txBody>
      </p:sp>
      <p:sp>
        <p:nvSpPr>
          <p:cNvPr id="12" name="box-188">
            <a:extLst xmlns:a="http://schemas.openxmlformats.org/drawingml/2006/main">
              <a:ext uri="{FF2B5EF4-FFF2-40B4-BE49-F238E27FC236}">
                <a16:creationId xmlns:a16="http://schemas.microsoft.com/office/drawing/2014/main" id="{28243EE2-00D1-42BE-8910-733F3FE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13" name="text-189">
            <a:extLst xmlns:a="http://schemas.openxmlformats.org/drawingml/2006/main">
              <a:ext uri="{FF2B5EF4-FFF2-40B4-BE49-F238E27FC236}">
                <a16:creationId xmlns:a16="http://schemas.microsoft.com/office/drawing/2014/main" id="{A0DF4266-3D86-4E40-A950-82D0DE97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7175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1</a:t>
            </a:r>
          </a:p>
        </p:txBody>
      </p:sp>
      <p:sp>
        <p:nvSpPr>
          <p:cNvPr id="14" name="text-190">
            <a:extLst xmlns:a="http://schemas.openxmlformats.org/drawingml/2006/main">
              <a:ext uri="{FF2B5EF4-FFF2-40B4-BE49-F238E27FC236}">
                <a16:creationId xmlns:a16="http://schemas.microsoft.com/office/drawing/2014/main" id="{EB31185E-4C1D-4E29-887C-9C5ABA9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33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主办方是否进一步解释取消原因</a:t>
            </a:r>
          </a:p>
        </p:txBody>
      </p:sp>
      <p:sp>
        <p:nvSpPr>
          <p:cNvPr id="15" name="box-191">
            <a:extLst xmlns:a="http://schemas.openxmlformats.org/drawingml/2006/main">
              <a:ext uri="{FF2B5EF4-FFF2-40B4-BE49-F238E27FC236}">
                <a16:creationId xmlns:a16="http://schemas.microsoft.com/office/drawing/2014/main" id="{A563C2BB-3766-4E07-AD84-A3CCEC47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16" name="text-192">
            <a:extLst xmlns:a="http://schemas.openxmlformats.org/drawingml/2006/main">
              <a:ext uri="{FF2B5EF4-FFF2-40B4-BE49-F238E27FC236}">
                <a16:creationId xmlns:a16="http://schemas.microsoft.com/office/drawing/2014/main" id="{23948F26-29F9-444C-BCF4-5EEAC6A9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5280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2</a:t>
            </a:r>
          </a:p>
        </p:txBody>
      </p:sp>
      <p:sp>
        <p:nvSpPr>
          <p:cNvPr id="17" name="text-193">
            <a:extLst xmlns:a="http://schemas.openxmlformats.org/drawingml/2006/main">
              <a:ext uri="{FF2B5EF4-FFF2-40B4-BE49-F238E27FC236}">
                <a16:creationId xmlns:a16="http://schemas.microsoft.com/office/drawing/2014/main" id="{ED823E37-3347-4A86-8C03-7CEA5CD1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14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工作室是否公布可核验材料</a:t>
            </a:r>
          </a:p>
        </p:txBody>
      </p:sp>
      <p:sp>
        <p:nvSpPr>
          <p:cNvPr id="18" name="box-194">
            <a:extLst xmlns:a="http://schemas.openxmlformats.org/drawingml/2006/main">
              <a:ext uri="{FF2B5EF4-FFF2-40B4-BE49-F238E27FC236}">
                <a16:creationId xmlns:a16="http://schemas.microsoft.com/office/drawing/2014/main" id="{52DC160F-4EBA-407E-AE7E-90393B06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B58"/>
          </a:solidFill>
          <a:ln xmlns:a="http://schemas.openxmlformats.org/drawingml/2006/main" w="9525">
            <a:solidFill>
              <a:srgbClr val="171712"/>
            </a:solidFill>
            <a:prstDash val="solid"/>
          </a:ln>
        </p:spPr>
      </p:sp>
      <p:sp>
        <p:nvSpPr>
          <p:cNvPr id="19" name="text-195">
            <a:extLst xmlns:a="http://schemas.openxmlformats.org/drawingml/2006/main">
              <a:ext uri="{FF2B5EF4-FFF2-40B4-BE49-F238E27FC236}">
                <a16:creationId xmlns:a16="http://schemas.microsoft.com/office/drawing/2014/main" id="{0EBB4776-7C4A-48E4-A40C-06E73FDE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3385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3</a:t>
            </a:r>
          </a:p>
        </p:txBody>
      </p:sp>
      <p:sp>
        <p:nvSpPr>
          <p:cNvPr id="20" name="text-196">
            <a:extLst xmlns:a="http://schemas.openxmlformats.org/drawingml/2006/main">
              <a:ext uri="{FF2B5EF4-FFF2-40B4-BE49-F238E27FC236}">
                <a16:creationId xmlns:a16="http://schemas.microsoft.com/office/drawing/2014/main" id="{98C94482-545E-46D8-9E80-FAF0C30B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退款通道是否按公告执行</a:t>
            </a:r>
          </a:p>
        </p:txBody>
      </p:sp>
    </p:spTree>
    <p:extLst>
      <p:ext uri="{BB962C8B-B14F-4D97-AF65-F5344CB8AC3E}">
        <p14:creationId xmlns:p14="http://schemas.microsoft.com/office/powerpoint/2010/main" val="15611335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97">
            <a:extLst xmlns:a="http://schemas.openxmlformats.org/drawingml/2006/main">
              <a:ext uri="{FF2B5EF4-FFF2-40B4-BE49-F238E27FC236}">
                <a16:creationId xmlns:a16="http://schemas.microsoft.com/office/drawing/2014/main" id="{6A20A56B-6C52-4EC1-B376-98EBC535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97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SOURCE LEDGER</a:t>
            </a:r>
          </a:p>
        </p:txBody>
      </p:sp>
      <p:sp>
        <p:nvSpPr>
          <p:cNvPr id="2" name="text-198">
            <a:extLst xmlns:a="http://schemas.openxmlformats.org/drawingml/2006/main">
              <a:ext uri="{FF2B5EF4-FFF2-40B4-BE49-F238E27FC236}">
                <a16:creationId xmlns:a16="http://schemas.microsoft.com/office/drawing/2014/main" id="{582DD39B-166E-4847-8A93-8B5DBE73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33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这份简报能追到哪里，就只说到哪里</a:t>
            </a:r>
          </a:p>
        </p:txBody>
      </p:sp>
      <p:sp>
        <p:nvSpPr>
          <p:cNvPr id="3" name="line-199">
            <a:extLst xmlns:a="http://schemas.openxmlformats.org/drawingml/2006/main">
              <a:ext uri="{FF2B5EF4-FFF2-40B4-BE49-F238E27FC236}">
                <a16:creationId xmlns:a16="http://schemas.microsoft.com/office/drawing/2014/main" id="{1EC0062C-33B2-4406-92D4-2F9425BC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4" name="line-200">
            <a:extLst xmlns:a="http://schemas.openxmlformats.org/drawingml/2006/main">
              <a:ext uri="{FF2B5EF4-FFF2-40B4-BE49-F238E27FC236}">
                <a16:creationId xmlns:a16="http://schemas.microsoft.com/office/drawing/2014/main" id="{2D3F3D4F-30A0-444B-96F9-14C35A86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5"/>
          </a:solidFill>
          <a:ln xmlns:a="http://schemas.openxmlformats.org/drawingml/2006/main" w="0">
            <a:solidFill>
              <a:srgbClr val="EF4B35"/>
            </a:solidFill>
            <a:prstDash val="solid"/>
          </a:ln>
        </p:spPr>
      </p:sp>
      <p:sp>
        <p:nvSpPr>
          <p:cNvPr id="5" name="text-201">
            <a:extLst xmlns:a="http://schemas.openxmlformats.org/drawingml/2006/main">
              <a:ext uri="{FF2B5EF4-FFF2-40B4-BE49-F238E27FC236}">
                <a16:creationId xmlns:a16="http://schemas.microsoft.com/office/drawing/2014/main" id="{893A0A97-A5E1-441D-B732-87D57C68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1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CHIGUA LENS · FICTIONAL DEMO / 虚构演示数据</a:t>
            </a:r>
          </a:p>
        </p:txBody>
      </p:sp>
      <p:sp>
        <p:nvSpPr>
          <p:cNvPr id="6" name="text-202">
            <a:extLst xmlns:a="http://schemas.openxmlformats.org/drawingml/2006/main">
              <a:ext uri="{FF2B5EF4-FFF2-40B4-BE49-F238E27FC236}">
                <a16:creationId xmlns:a16="http://schemas.microsoft.com/office/drawing/2014/main" id="{A2E73604-9C16-49B3-9987-DD878245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09</a:t>
            </a:r>
          </a:p>
        </p:txBody>
      </p:sp>
      <p:sp>
        <p:nvSpPr>
          <p:cNvPr id="7" name="text-203">
            <a:extLst xmlns:a="http://schemas.openxmlformats.org/drawingml/2006/main">
              <a:ext uri="{FF2B5EF4-FFF2-40B4-BE49-F238E27FC236}">
                <a16:creationId xmlns:a16="http://schemas.microsoft.com/office/drawing/2014/main" id="{7D9151FE-A9EA-45E8-AABA-E6E46246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rPr>
              <a:t>s1</a:t>
            </a:r>
          </a:p>
        </p:txBody>
      </p:sp>
      <p:sp>
        <p:nvSpPr>
          <p:cNvPr id="8" name="text-204">
            <a:extLst xmlns:a="http://schemas.openxmlformats.org/drawingml/2006/main">
              <a:ext uri="{FF2B5EF4-FFF2-40B4-BE49-F238E27FC236}">
                <a16:creationId xmlns:a16="http://schemas.microsoft.com/office/drawing/2014/main" id="{C4ADD70C-6590-447D-B1ED-752D5E2D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95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阵容调整公告</a:t>
            </a:r>
          </a:p>
        </p:txBody>
      </p:sp>
      <p:sp>
        <p:nvSpPr>
          <p:cNvPr id="9" name="text-205">
            <a:extLst xmlns:a="http://schemas.openxmlformats.org/drawingml/2006/main">
              <a:ext uri="{FF2B5EF4-FFF2-40B4-BE49-F238E27FC236}">
                <a16:creationId xmlns:a16="http://schemas.microsoft.com/office/drawing/2014/main" id="{DED85E9C-225F-41FF-BB38-9155D3BE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南风音乐节 · 2026-08-08 08:42</a:t>
            </a:r>
          </a:p>
        </p:txBody>
      </p:sp>
      <p:sp>
        <p:nvSpPr>
          <p:cNvPr id="10" name="text-206">
            <a:extLst xmlns:a="http://schemas.openxmlformats.org/drawingml/2006/main">
              <a:ext uri="{FF2B5EF4-FFF2-40B4-BE49-F238E27FC236}">
                <a16:creationId xmlns:a16="http://schemas.microsoft.com/office/drawing/2014/main" id="{F94E2DBA-AB9A-40D4-BE4F-6EDCFC4C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0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demo://organizer-announcement</a:t>
            </a:r>
          </a:p>
        </p:txBody>
      </p:sp>
      <p:sp>
        <p:nvSpPr>
          <p:cNvPr id="11" name="text-207">
            <a:extLst xmlns:a="http://schemas.openxmlformats.org/drawingml/2006/main">
              <a:ext uri="{FF2B5EF4-FFF2-40B4-BE49-F238E27FC236}">
                <a16:creationId xmlns:a16="http://schemas.microsoft.com/office/drawing/2014/main" id="{F6592CC9-2B62-4E7C-8DD1-1FFAF5E1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rPr>
              <a:t>s2</a:t>
            </a:r>
          </a:p>
        </p:txBody>
      </p:sp>
      <p:sp>
        <p:nvSpPr>
          <p:cNvPr id="12" name="text-208">
            <a:extLst xmlns:a="http://schemas.openxmlformats.org/drawingml/2006/main">
              <a:ext uri="{FF2B5EF4-FFF2-40B4-BE49-F238E27FC236}">
                <a16:creationId xmlns:a16="http://schemas.microsoft.com/office/drawing/2014/main" id="{592BEBE9-84F5-48CB-91D4-12C0CF56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关于演出安排的说明</a:t>
            </a:r>
          </a:p>
        </p:txBody>
      </p:sp>
      <p:sp>
        <p:nvSpPr>
          <p:cNvPr id="13" name="text-209">
            <a:extLst xmlns:a="http://schemas.openxmlformats.org/drawingml/2006/main">
              <a:ext uri="{FF2B5EF4-FFF2-40B4-BE49-F238E27FC236}">
                <a16:creationId xmlns:a16="http://schemas.microsoft.com/office/drawing/2014/main" id="{B5B8AC17-0ABA-471B-971F-4479562C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林霁工作室 · 2026-08-08 09:17</a:t>
            </a:r>
          </a:p>
        </p:txBody>
      </p:sp>
      <p:sp>
        <p:nvSpPr>
          <p:cNvPr id="14" name="text-210">
            <a:extLst xmlns:a="http://schemas.openxmlformats.org/drawingml/2006/main">
              <a:ext uri="{FF2B5EF4-FFF2-40B4-BE49-F238E27FC236}">
                <a16:creationId xmlns:a16="http://schemas.microsoft.com/office/drawing/2014/main" id="{5835A346-5B4A-417F-AE69-6FE619DE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0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demo://studio-response</a:t>
            </a:r>
          </a:p>
        </p:txBody>
      </p:sp>
      <p:sp>
        <p:nvSpPr>
          <p:cNvPr id="15" name="text-211">
            <a:extLst xmlns:a="http://schemas.openxmlformats.org/drawingml/2006/main">
              <a:ext uri="{FF2B5EF4-FFF2-40B4-BE49-F238E27FC236}">
                <a16:creationId xmlns:a16="http://schemas.microsoft.com/office/drawing/2014/main" id="{EB1DD195-8846-4152-8229-DF6A7985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rPr>
              <a:t>s3</a:t>
            </a:r>
          </a:p>
        </p:txBody>
      </p:sp>
      <p:sp>
        <p:nvSpPr>
          <p:cNvPr id="16" name="text-212">
            <a:extLst xmlns:a="http://schemas.openxmlformats.org/drawingml/2006/main">
              <a:ext uri="{FF2B5EF4-FFF2-40B4-BE49-F238E27FC236}">
                <a16:creationId xmlns:a16="http://schemas.microsoft.com/office/drawing/2014/main" id="{B6770A1D-F94E-45AF-8BEB-BDB75028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匿名账号转述与旧版海报</a:t>
            </a:r>
          </a:p>
        </p:txBody>
      </p:sp>
      <p:sp>
        <p:nvSpPr>
          <p:cNvPr id="17" name="text-213">
            <a:extLst xmlns:a="http://schemas.openxmlformats.org/drawingml/2006/main">
              <a:ext uri="{FF2B5EF4-FFF2-40B4-BE49-F238E27FC236}">
                <a16:creationId xmlns:a16="http://schemas.microsoft.com/office/drawing/2014/main" id="{4BB69D69-C059-4258-B531-6A36F4EF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公开微博样本 · 2026-08-08 10:05</a:t>
            </a:r>
          </a:p>
        </p:txBody>
      </p:sp>
      <p:sp>
        <p:nvSpPr>
          <p:cNvPr id="18" name="text-214">
            <a:extLst xmlns:a="http://schemas.openxmlformats.org/drawingml/2006/main">
              <a:ext uri="{FF2B5EF4-FFF2-40B4-BE49-F238E27FC236}">
                <a16:creationId xmlns:a16="http://schemas.microsoft.com/office/drawing/2014/main" id="{6664953E-9D5C-40C1-9D34-5021AA77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0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demo://unverified-posts</a:t>
            </a:r>
          </a:p>
        </p:txBody>
      </p:sp>
      <p:sp>
        <p:nvSpPr>
          <p:cNvPr id="19" name="text-215">
            <a:extLst xmlns:a="http://schemas.openxmlformats.org/drawingml/2006/main">
              <a:ext uri="{FF2B5EF4-FFF2-40B4-BE49-F238E27FC236}">
                <a16:creationId xmlns:a16="http://schemas.microsoft.com/office/drawing/2014/main" id="{6EAF0CD7-661F-4FD7-B17A-94037257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1">
                <a:solidFill>
                  <a:srgbClr val="EF4B35"/>
                </a:solidFill>
                <a:latin typeface="Source Han Sans CN"/>
                <a:ea typeface="Source Han Sans CN"/>
                <a:cs typeface="Source Han Sans CN"/>
              </a:rPr>
              <a:t>s4</a:t>
            </a:r>
          </a:p>
        </p:txBody>
      </p:sp>
      <p:sp>
        <p:nvSpPr>
          <p:cNvPr id="20" name="text-216">
            <a:extLst xmlns:a="http://schemas.openxmlformats.org/drawingml/2006/main">
              <a:ext uri="{FF2B5EF4-FFF2-40B4-BE49-F238E27FC236}">
                <a16:creationId xmlns:a16="http://schemas.microsoft.com/office/drawing/2014/main" id="{048B2E3B-7380-4CEE-A2EF-1D7CED1B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171712"/>
                </a:solidFill>
                <a:latin typeface="Source Han Sans CN"/>
                <a:ea typeface="Source Han Sans CN"/>
                <a:cs typeface="Source Han Sans CN"/>
              </a:rPr>
              <a:t>退款方案补充公告</a:t>
            </a:r>
          </a:p>
        </p:txBody>
      </p:sp>
      <p:sp>
        <p:nvSpPr>
          <p:cNvPr id="21" name="text-217">
            <a:extLst xmlns:a="http://schemas.openxmlformats.org/drawingml/2006/main">
              <a:ext uri="{FF2B5EF4-FFF2-40B4-BE49-F238E27FC236}">
                <a16:creationId xmlns:a16="http://schemas.microsoft.com/office/drawing/2014/main" id="{53B2378B-38F5-4327-9FB6-69FDD13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D695F"/>
                </a:solidFill>
                <a:latin typeface="Source Han Sans CN"/>
                <a:ea typeface="Source Han Sans CN"/>
                <a:cs typeface="Source Han Sans CN"/>
              </a:rPr>
              <a:t>南风音乐节 · 2026-08-08 12:26</a:t>
            </a:r>
          </a:p>
        </p:txBody>
      </p:sp>
      <p:sp>
        <p:nvSpPr>
          <p:cNvPr id="22" name="text-218">
            <a:extLst xmlns:a="http://schemas.openxmlformats.org/drawingml/2006/main">
              <a:ext uri="{FF2B5EF4-FFF2-40B4-BE49-F238E27FC236}">
                <a16:creationId xmlns:a16="http://schemas.microsoft.com/office/drawing/2014/main" id="{83A5D035-69C3-4807-8045-F2A0B10F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825" b="0">
                <a:solidFill>
                  <a:srgbClr val="223DAD"/>
                </a:solidFill>
                <a:latin typeface="Source Han Sans CN"/>
                <a:ea typeface="Source Han Sans CN"/>
                <a:cs typeface="Source Han Sans CN"/>
              </a:rPr>
              <a:t>demo://refund-update</a:t>
            </a:r>
          </a:p>
        </p:txBody>
      </p:sp>
      <p:sp>
        <p:nvSpPr>
          <p:cNvPr id="23" name="box-219">
            <a:extLst xmlns:a="http://schemas.openxmlformats.org/drawingml/2006/main">
              <a:ext uri="{FF2B5EF4-FFF2-40B4-BE49-F238E27FC236}">
                <a16:creationId xmlns:a16="http://schemas.microsoft.com/office/drawing/2014/main" id="{16DA3BDB-AD67-4B99-B03F-B6118A1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2"/>
          </a:solidFill>
          <a:ln xmlns:a="http://schemas.openxmlformats.org/drawingml/2006/main" w="0">
            <a:solidFill>
              <a:srgbClr val="171712"/>
            </a:solidFill>
            <a:prstDash val="solid"/>
          </a:ln>
        </p:spPr>
      </p:sp>
      <p:sp>
        <p:nvSpPr>
          <p:cNvPr id="24" name="text-220">
            <a:extLst xmlns:a="http://schemas.openxmlformats.org/drawingml/2006/main">
              <a:ext uri="{FF2B5EF4-FFF2-40B4-BE49-F238E27FC236}">
                <a16:creationId xmlns:a16="http://schemas.microsoft.com/office/drawing/2014/main" id="{D68183A4-676C-4EAD-AF9F-C87639E0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1">
                <a:solidFill>
                  <a:srgbClr val="FFFDF8"/>
                </a:solidFill>
                <a:latin typeface="Source Han Sans CN"/>
                <a:ea typeface="Source Han Sans CN"/>
                <a:cs typeface="Source Han Sans CN"/>
              </a:rPr>
              <a:t>本案例完全虚构，只用于展示工作流与视觉模板。</a:t>
            </a:r>
          </a:p>
        </p:txBody>
      </p:sp>
    </p:spTree>
    <p:extLst>
      <p:ext uri="{BB962C8B-B14F-4D97-AF65-F5344CB8AC3E}">
        <p14:creationId xmlns:p14="http://schemas.microsoft.com/office/powerpoint/2010/main" val="492807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2026-08-30T14:44:25.9880000Z</dcterms:created>
  <dcterms:modified xsi:type="dcterms:W3CDTF">2026-08-30T14:44:25.9880000Z</dcterms:modified>
</coreProperties>
</file>